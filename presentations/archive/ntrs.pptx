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0292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NTRS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0B8C8"/>
                </a:solidFill>
              </a:rPr>
              <a:t>Neural Thickets  ×  Randomized Smoothing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1762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Certified Geometry of the LLM Post-Training Weight Space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" y="2788920"/>
            <a:ext cx="5029200" cy="0"/>
          </a:xfrm>
          <a:prstGeom prst="line">
            <a:avLst/>
          </a:prstGeom>
          <a:ln w="1905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" y="30175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97BBF"/>
                </a:solidFill>
              </a:rPr>
              <a:t>H1   Universal Adaptation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566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3C59E"/>
                </a:solidFill>
              </a:rPr>
              <a:t>H2   Forgetting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1480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</a:rPr>
              <a:t>H3   Model Merging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217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Kina Kim  |  SFU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Post-training has no formal guarantees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1572768"/>
            <a:ext cx="11521440" cy="0"/>
          </a:xfrm>
          <a:prstGeom prst="line">
            <a:avLst/>
          </a:prstGeom>
          <a:ln w="1905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1737360"/>
            <a:ext cx="11521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</a:rPr>
              <a:t>→  LoRA, RLHF, and SFT adapt LLMs — but none answer: how far can we move θ before quality degrades?</a:t>
            </a:r>
          </a:p>
          <a:p>
            <a:pPr algn="l"/>
            <a:r>
              <a:rPr sz="1600">
                <a:solidFill>
                  <a:srgbClr val="F5F5F5"/>
                </a:solidFill>
              </a:rPr>
              <a:t>→  Practitioners tune learning rate by trial and error; there is no principled safe budget</a:t>
            </a:r>
          </a:p>
          <a:p>
            <a:pPr algn="l"/>
            <a:r>
              <a:rPr sz="1600">
                <a:solidFill>
                  <a:srgbClr val="F5F5F5"/>
                </a:solidFill>
              </a:rPr>
              <a:t>→  Sequential fine-tuning causes catastrophic forgetting — but when, and by how much?</a:t>
            </a:r>
          </a:p>
          <a:p>
            <a:pPr algn="l"/>
            <a:r>
              <a:rPr sz="1600">
                <a:solidFill>
                  <a:srgbClr val="F5F5F5"/>
                </a:solidFill>
              </a:rPr>
              <a:t>→  Model merging works empirically but has no geometric sufficient condition for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846320"/>
            <a:ext cx="11521440" cy="1371600"/>
          </a:xfrm>
          <a:prstGeom prst="rect">
            <a:avLst/>
          </a:prstGeom>
          <a:solidFill>
            <a:srgbClr val="0D1B2A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9011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What a certificate would 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11155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5F5"/>
                </a:solidFill>
              </a:rPr>
              <a:t>→  Predict a safe LR and step count before running any fine-tuning</a:t>
            </a:r>
          </a:p>
          <a:p>
            <a:pPr algn="l"/>
            <a:r>
              <a:rPr sz="1300">
                <a:solidFill>
                  <a:srgbClr val="F5F5F5"/>
                </a:solidFill>
              </a:rPr>
              <a:t>→  Know when sequential FT will cause forgetting — without running it</a:t>
            </a:r>
          </a:p>
          <a:p>
            <a:pPr algn="l"/>
            <a:r>
              <a:rPr sz="1300">
                <a:solidFill>
                  <a:srgbClr val="F5F5F5"/>
                </a:solidFill>
              </a:rPr>
              <a:t>→  Certify that a model merge will succeed — from geometry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We bring Randomized Smoothing into weight 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1371600"/>
            <a:ext cx="11521440" cy="0"/>
          </a:xfrm>
          <a:prstGeom prst="line">
            <a:avLst/>
          </a:prstGeom>
          <a:ln w="1905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508760"/>
            <a:ext cx="5486400" cy="2103120"/>
          </a:xfrm>
          <a:prstGeom prst="rect">
            <a:avLst/>
          </a:prstGeom>
          <a:solidFill>
            <a:srgbClr val="0D1B2A"/>
          </a:solidFill>
          <a:ln w="15240">
            <a:solidFill>
              <a:srgbClr val="B0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Cohen et al. (2019) — original 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659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Perturb the INPUT x with Gaussian noise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Certify robustness to adversarial input changes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Radius in input space: r* = σ · Φ⁻¹(p_A)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508760"/>
            <a:ext cx="5760720" cy="2103120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7BBF"/>
                </a:solidFill>
              </a:rPr>
              <a:t>NTRS — weight-space RS  (this 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659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Perturb the WEIGHTS θ with Gaussian noise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Certify robustness to post-training weight changes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Same Binomial CI machinery — new domain, new 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67328"/>
            <a:ext cx="11521440" cy="1280160"/>
          </a:xfrm>
          <a:prstGeom prst="rect">
            <a:avLst/>
          </a:prstGeom>
          <a:solidFill>
            <a:srgbClr val="1A3A5C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95344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C(θ, σ)  =  P_{ε ~ N(0, σ²I)}[ s(θ + ε)  ≥  m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622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8"/>
                </a:solidFill>
              </a:rPr>
              <a:t>s(θ) = quality score  (e.g. neg. WikiText-2 NLL)     m = quality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1937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5F5F5"/>
                </a:solidFill>
              </a:rPr>
              <a:t>→  C → 1.0: model survives ALL perturbations of scale σ  (deep inside the basin)</a:t>
            </a:r>
          </a:p>
          <a:p>
            <a:pPr algn="l"/>
            <a:r>
              <a:rPr sz="1400">
                <a:solidFill>
                  <a:srgbClr val="F5F5F5"/>
                </a:solidFill>
              </a:rPr>
              <a:t>→  C → 0.0: model is at the edge — small noise degrades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C(θ, σ): How it looks on a real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dens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33856"/>
            <a:ext cx="786384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133856"/>
            <a:ext cx="3657600" cy="2377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188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7BBF"/>
                </a:solidFill>
              </a:rPr>
              <a:t>What the curves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1591056"/>
            <a:ext cx="340156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97BBF"/>
                </a:solidFill>
              </a:rPr>
              <a:t>→  Pretrained (blue): peaks near 0.90, drops sharply — σ½ ≈ 0.001</a:t>
            </a:r>
          </a:p>
          <a:p>
            <a:pPr algn="l"/>
            <a:r>
              <a:rPr sz="1100">
                <a:solidFill>
                  <a:srgbClr val="E94F37"/>
                </a:solidFill>
              </a:rPr>
              <a:t>→  Random-init (red): peaks at only 0.58, decreases very slowly — σ½ ≈ 0.020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Random-init σ½ is ~20× larger — not because it is more robust, but because its loss landscape is flat and undifferentiated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σ½ measures minimum SHARPNESS, not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639312"/>
            <a:ext cx="3657600" cy="2432304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3694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The 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40782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</a:rPr>
              <a:t>Smaller σ½  =  sharper, better-organised minimum  =  better-trained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773168"/>
            <a:ext cx="34015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5F5F5"/>
                </a:solidFill>
              </a:rPr>
              <a:t>→  Pretrained GPT-2 is HARDER to perturb away from quality than random-init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Computed in ~2 min on GPU with N = 200 perturbations — no labels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σ½ is the radius of the safe zone in weight 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loss_b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33856"/>
            <a:ext cx="566928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133856"/>
            <a:ext cx="5760720" cy="2340864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C59E"/>
                </a:solidFill>
              </a:rPr>
              <a:t>Inside the ball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09344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‖ε‖ &lt; σ½  →  s(θ+ε) ≥ m  with high probability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Fine-tuned model stays near pretrained quality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WikiText-2 PPL ratio stays ≈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621024"/>
            <a:ext cx="5760720" cy="2596896"/>
          </a:xfrm>
          <a:prstGeom prst="rect">
            <a:avLst/>
          </a:prstGeom>
          <a:solidFill>
            <a:srgbClr val="0D1B2A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367588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Outside the ball 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40965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‖ε‖ &gt; σ½  →  quality degrades in expectation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Fine-tuned model drifts off the pretrained loss surface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WikiText-2 PPL ratio rises above 1.02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Perturbations are isotropic Gaussian — random direction, fixed scale 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Why σ½ is the right unit for all three hypotheses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1170432"/>
            <a:ext cx="5742432" cy="2542032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5742432" cy="420624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1225296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Model-agnostic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682496"/>
            <a:ext cx="5541264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σ½ absorbs differences in scale, arch, and pretraining quality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‖Δθ‖ / σ½ is dimensionless — comparable across GPT-2, Llama, etc.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Without σ½, each model needs its own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70432"/>
            <a:ext cx="5742432" cy="254203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70432"/>
            <a:ext cx="5742432" cy="420624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225296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Measurable before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82496"/>
            <a:ext cx="5541264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Computed on θ_pre in ~2 min  (no task labels, no fine-tuning)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Gives a predictive budget BEFORE the experiment starts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σ½_pre is reused across H1, H2, and H3 without re-running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913632"/>
            <a:ext cx="5742432" cy="2542032"/>
          </a:xfrm>
          <a:prstGeom prst="rect">
            <a:avLst/>
          </a:prstGeom>
          <a:solidFill>
            <a:srgbClr val="0D1B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913632"/>
            <a:ext cx="5742432" cy="420624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3968496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Interpretable geometry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4425696"/>
            <a:ext cx="5541264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R_A &gt; 1 means 'you have left the certified basin of Task A'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d &lt; σ½_A + σ½_B means 'the two basins overlap — merge is safe'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Geometric picture is intuitive and falsifiable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13632"/>
            <a:ext cx="5742432" cy="2542032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13632"/>
            <a:ext cx="5742432" cy="420624"/>
          </a:xfrm>
          <a:prstGeom prst="rect">
            <a:avLst/>
          </a:prstGeom>
          <a:solidFill>
            <a:srgbClr val="F5C51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968496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Connects to Neural Thickets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425696"/>
            <a:ext cx="5541264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Larger / better-trained models → smaller σ½  (tighter basin)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Consistent with NT solution-density scaling law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σ½ is the empirical correlate of 'thicket density'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7BBF"/>
                </a:solidFill>
              </a:rPr>
              <a:t>H1  ·  Universal Adaptation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12064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One normalised number predicts stability
across any model, task, or LR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371600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1481328"/>
            <a:ext cx="11750040" cy="1261872"/>
          </a:xfrm>
          <a:prstGeom prst="rect">
            <a:avLst/>
          </a:prstGeom>
          <a:solidFill>
            <a:srgbClr val="1A3A5C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934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 = ‖Δθ‖ / σ½_pre  ≈  1   is a universal stability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84831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C8"/>
                </a:solidFill>
              </a:rPr>
              <a:t>Normalising by σ½ collapses all PPL-degradation curves onto one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907792"/>
            <a:ext cx="11750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</a:rPr>
              <a:t>→  R &lt; 1  →  update inside the certified ball  →  pretraining quality preserved</a:t>
            </a:r>
          </a:p>
          <a:p>
            <a:pPr algn="l"/>
            <a:r>
              <a:rPr sz="1500">
                <a:solidFill>
                  <a:srgbClr val="F5F5F5"/>
                </a:solidFill>
              </a:rPr>
              <a:t>→  R &gt; 1  →  update outside the ball  →  WikiText-2 PPL degrades</a:t>
            </a:r>
          </a:p>
          <a:p>
            <a:pPr algn="l"/>
            <a:r>
              <a:rPr sz="1500">
                <a:solidFill>
                  <a:srgbClr val="F5F5F5"/>
                </a:solidFill>
              </a:rPr>
              <a:t>→  σ½ is the natural unit that makes fine-tuning scale comparable across architectures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315968"/>
            <a:ext cx="1175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Analogies to known scaling laws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4736592"/>
            <a:ext cx="3794760" cy="98755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7914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C59E"/>
                </a:solidFill>
              </a:rPr>
              <a:t>Chinchilla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51389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N_tokens / N_params ≈ 20  collapses loss across model sizes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736592"/>
            <a:ext cx="3794760" cy="98755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47914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C59E"/>
                </a:solidFill>
              </a:rPr>
              <a:t>μP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51389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lr / √width  collapses training curves across widths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4736592"/>
            <a:ext cx="3794760" cy="987552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47914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7BBF"/>
                </a:solidFill>
              </a:rPr>
              <a:t>H1  (claim)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51389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‖Δθ‖ / σ½  collapses PPL curves across tasks, models, LRs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H1 — Visualised: before and after σ½ normalisation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h1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3856"/>
            <a:ext cx="11704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Illustrative.  If H1 holds, the right panel collapses to a single curve with a kink at R =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H1  ·  Experiment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5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97BBF"/>
                </a:solidFill>
              </a:rPr>
              <a:t>5 models  ×  5 tasks  ×  6 LRs  =  150 fine-tuning runs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1170432"/>
            <a:ext cx="11338560" cy="420624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σ½_pre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09344"/>
            <a:ext cx="11338560" cy="420624"/>
          </a:xfrm>
          <a:prstGeom prst="rect">
            <a:avLst/>
          </a:prstGeom>
          <a:solidFill>
            <a:srgbClr val="1222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550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550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124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5506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55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~0.00060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048256"/>
            <a:ext cx="11338560" cy="420624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939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GPT-2-medium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093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354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939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 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93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~0.00081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487168"/>
            <a:ext cx="11338560" cy="420624"/>
          </a:xfrm>
          <a:prstGeom prst="rect">
            <a:avLst/>
          </a:prstGeom>
          <a:solidFill>
            <a:srgbClr val="1222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328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GPT-2-large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53288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774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532887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 decoder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5328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~0.00060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926080"/>
            <a:ext cx="11338560" cy="420624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9718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GPT-2-xl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971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1.5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9718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GPT-2 decoder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~0.00067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364991"/>
            <a:ext cx="11338560" cy="420624"/>
          </a:xfrm>
          <a:prstGeom prst="rect">
            <a:avLst/>
          </a:prstGeom>
          <a:solidFill>
            <a:srgbClr val="1222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4107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Llama-3.2-3B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41071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3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10711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Llama decoder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4107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~0.00020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389534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Tasks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315968"/>
            <a:ext cx="2194560" cy="804672"/>
          </a:xfrm>
          <a:prstGeom prst="rect">
            <a:avLst/>
          </a:prstGeom>
          <a:solidFill>
            <a:srgbClr val="0D1B2A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3708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SST-2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6634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Binary sentiment  —  novel format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315968"/>
            <a:ext cx="2194560" cy="804672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43708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MNLI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6634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Textual inference  —  moderate familiarity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315968"/>
            <a:ext cx="2194560" cy="804672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79" y="43708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Yahoo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79" y="46634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Q&amp;A classification  —  partial overlap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59" y="4315968"/>
            <a:ext cx="2194560" cy="804672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9" y="43708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7BBF"/>
                </a:solidFill>
              </a:rPr>
              <a:t>DBPedia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199" y="46634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Entity classification  —  encyclopedic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5480" y="4315968"/>
            <a:ext cx="2194560" cy="80467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19" y="43708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C59E"/>
                </a:solidFill>
              </a:rPr>
              <a:t>AG News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46634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News classification  —  WebText familiar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5285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5F5"/>
                </a:solidFill>
              </a:rPr>
              <a:t>→  LoRA rank = 8 (primary)  ·  500 steps per condition  ·  eval on WikiText-2 NLL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H1  ·  Why These Tasks? Controlling for Pretraining Familiarity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task_famili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3856"/>
            <a:ext cx="11704320" cy="2651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032" y="3913632"/>
            <a:ext cx="5577840" cy="2724912"/>
          </a:xfrm>
          <a:prstGeom prst="rect">
            <a:avLst/>
          </a:prstGeom>
          <a:solidFill>
            <a:srgbClr val="0D1B2A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39684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C59E"/>
                </a:solidFill>
              </a:rPr>
              <a:t>Familiar tasks (AG News, DBPedia)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4389120"/>
            <a:ext cx="52120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GPT-2 was pretrained on WebText — news and encyclopedic text is heavily represented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Model needs only tiny parameter movement to classify these → R stays small even at high LR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Risk: if we only used familiar tasks, R≈1 might hold trivially and mean nothing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6752" y="3913632"/>
            <a:ext cx="5925312" cy="2724912"/>
          </a:xfrm>
          <a:prstGeom prst="rect">
            <a:avLst/>
          </a:prstGeom>
          <a:solidFill>
            <a:srgbClr val="0D1B2A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39684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Novel tasks (SST-2, MNLI)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4389120"/>
            <a:ext cx="55778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Short-form sentiment and textual inference are NOT dominant patterns in WebText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Model must learn a genuinely new signal → large parameter movement required → R grows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Including these tests whether R≈1 holds even when the model has to move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Both extremes are required — without novel tasks, universality claim is untestable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H1  ·  Why These LRs and Models?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lr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3856"/>
            <a:ext cx="11704320" cy="23408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032" y="3657600"/>
            <a:ext cx="5577840" cy="2962656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37124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7BBF"/>
                </a:solidFill>
              </a:rPr>
              <a:t>Learning rates: span both sides of R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4133087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lr = 1e-5 → R ≪ 1: the safe control condition (model barely moves)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lr = 1e-4 / 2e-4 → R ≈ 0.4–0.9: expected neighbourhood of the boundary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lr = 5e-4 / 1e-3 → R &gt; 1: deliberate overshoot — confirms degradation side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Without overshooting the boundary we cannot verify that σ½ predicts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6752" y="3657600"/>
            <a:ext cx="5925312" cy="2962656"/>
          </a:xfrm>
          <a:prstGeom prst="rect">
            <a:avLst/>
          </a:prstGeom>
          <a:solidFill>
            <a:srgbClr val="0D1B2A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3712463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7BBF"/>
                </a:solidFill>
              </a:rPr>
              <a:t>Models: architecture + scale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4133087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GPT-2 family (124M → 1.5B): same architecture, clean parameter scaling — isolates size effect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Llama-3.2-3B: different architecture AND training recipe (RLHF, instruction tuning)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Without Llama, 'universal' only means 'works for GPT-2 decoder-only stack'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GPT-2-xl + Llama-3B bracket the Neural Thickets 'thicket threshold' (~1.5B)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3C59E"/>
                </a:solidFill>
              </a:rPr>
              <a:t>H2  ·  Forgetting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12064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5F5"/>
                </a:solidFill>
              </a:rPr>
              <a:t>The certified ball of θ_A is
a forgetting budget for Task B training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389888"/>
            <a:ext cx="11750040" cy="0"/>
          </a:xfrm>
          <a:prstGeom prst="line">
            <a:avLst/>
          </a:prstGeom>
          <a:ln w="1905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1499616"/>
            <a:ext cx="11750040" cy="1225296"/>
          </a:xfrm>
          <a:prstGeom prst="rect">
            <a:avLst/>
          </a:prstGeom>
          <a:solidFill>
            <a:srgbClr val="0E3D30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R_A = ‖θ_B − θ_A‖ / σ½_A  &gt;  1   predicts Task A forgetting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84831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C8"/>
                </a:solidFill>
              </a:rPr>
              <a:t>Whenever Phase 2 weights exit the certified ball around θ_A, Task A accuracy drops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907792"/>
            <a:ext cx="11750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</a:rPr>
              <a:t>→  Continual learning: R_A = 1 is a hard budget — train on Task B until this, then stop</a:t>
            </a:r>
          </a:p>
          <a:p>
            <a:pPr algn="l"/>
            <a:r>
              <a:rPr sz="1500">
                <a:solidFill>
                  <a:srgbClr val="F5F5F5"/>
                </a:solidFill>
              </a:rPr>
              <a:t>→  RLHF analogy: σ½_SFT is the weight-space KL penalty radius — bounds safe RLHF movement</a:t>
            </a:r>
          </a:p>
          <a:p>
            <a:pPr algn="l"/>
            <a:r>
              <a:rPr sz="1500">
                <a:solidFill>
                  <a:srgbClr val="F5F5F5"/>
                </a:solidFill>
              </a:rPr>
              <a:t>→  Practical: compute σ½_A once, then predict forgetting without running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498848"/>
            <a:ext cx="11750040" cy="1554480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553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C59E"/>
                </a:solidFill>
              </a:rPr>
              <a:t>Stronger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37760"/>
            <a:ext cx="113385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5F5"/>
                </a:solidFill>
              </a:rPr>
              <a:t>→  Forgetting curve F(t) aligns across model sizes, task pairs, and LRs when plotted vs R_A(t)</a:t>
            </a:r>
          </a:p>
          <a:p>
            <a:pPr algn="l"/>
            <a:r>
              <a:rPr sz="1300">
                <a:solidFill>
                  <a:srgbClr val="F5F5F5"/>
                </a:solidFill>
              </a:rPr>
              <a:t>→  The transition at R_A = 1 is sharp — a step function, not a gradual drift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H2 — Visualised: weight-space trajectory and Task A accuracy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h2_sequ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3856"/>
            <a:ext cx="11704320" cy="5065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Left: Phase 2 trajectory in weight space — low LR stays inside σ½_A ball, high LR exits. Right: predicted Task A accuracy vs R_A — drop at R_A =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H2  ·  Task Pair Design — Two Requirements in Tension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1170432"/>
            <a:ext cx="5577840" cy="5029200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5577840" cy="438912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Task A  —  must converge cleanly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00784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If Task A never converges, σ½_A reflects a pretrained (not fine-tuned) basin — the H2 formula becomes meaningless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Choose a familiar task: AG News for GPT-2 (WebText = news text) → model reaches &gt;80 % accuracy at lr = 1e-4 in 2000 steps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Convergence guard: raise an error if Phase 1 accuracy &lt; 70 %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σ½_A is measured on the FINE-TUNED θ_A (not pretrained) — it reflects the Task A optimum basin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70432"/>
            <a:ext cx="5925312" cy="5029200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170432"/>
            <a:ext cx="5925312" cy="438912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2070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Task B  —  must require real parameter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700784"/>
            <a:ext cx="56509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If Task B is also familiar (e.g. another news dataset), R_A stays tiny throughout Phase 2 → no forgetting → H2 is untestable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Choose a novel task: SST-2 for GPT-2 (short-form sentiment ≠ WebText distribution) → model must move θ significantly to learn it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This ensures R_A grows across the LR range 1e-5 → 2e-4, giving data both inside and outside the ball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Reverse for Llama-3B (SST-2 → AG News): tests whether task direction matters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H2  ·  Why These LRs, Steps, and Ranks?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1170432"/>
            <a:ext cx="11750040" cy="171907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11750040" cy="420624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1225296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  —  lr_a = 1e-4, 2000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682496"/>
            <a:ext cx="1154887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lr = 1e-5 does NOT converge on AG News in 2000 steps — σ½_A stays pretrained-like and inflates R_A to nonsense values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lr = 1e-4 produces ~4× basin widening on GPT-2 (verified in lora_density_experiment) — gives a well-characterised σ½_A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2000 steps: enough for &gt;80 % accuracy on AG News with rank = 8  (confirmed empirically)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017520"/>
            <a:ext cx="11750040" cy="1719072"/>
          </a:xfrm>
          <a:prstGeom prst="rect">
            <a:avLst/>
          </a:prstGeom>
          <a:solidFill>
            <a:srgbClr val="0D1B2A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3017520"/>
            <a:ext cx="11750040" cy="420624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3072384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  —  three LRs, each targeting a different R_A regime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3529584"/>
            <a:ext cx="1154887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lr = 1e-5  →  R_A stays &lt; 1 throughout 2000 steps  →  control: Task A should be preserved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lr = 1e-4  →  R_A crosses 1 around step 800–1000  →  tests the transition; sharpest signal for H2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lr = 2e-4  →  R_A &gt; 1 early  →  confirms the failure side; large forgetting 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864608"/>
            <a:ext cx="11750040" cy="1719072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4864608"/>
            <a:ext cx="11750040" cy="420624"/>
          </a:xfrm>
          <a:prstGeom prst="rect">
            <a:avLst/>
          </a:prstGeom>
          <a:solidFill>
            <a:srgbClr val="F5C51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4919472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Ranks 8 and 32 — why both?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5376672"/>
            <a:ext cx="1154887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rank = 32 moves faster in norm for the same LR (more directions updated per step)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So at rank 32, R_A &gt; 1 is reached at a lower LR — stress-tests whether rank shifts the boundary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If the boundary moves with rank: the ball is not isotropic in LoRA-update space — important nuance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50-step eval cadence during Phase 2: fine enough to catch the R_A = 1 crossing without excessive compute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</a:rPr>
              <a:t>H3  ·  Model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93776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If the certified balls overlap, the midpoint is safe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188720"/>
            <a:ext cx="1175004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1298448"/>
            <a:ext cx="11750040" cy="877824"/>
          </a:xfrm>
          <a:prstGeom prst="rect">
            <a:avLst/>
          </a:prstGeom>
          <a:solidFill>
            <a:srgbClr val="2A125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d(θ_A, θ_B) &lt; σ½_A + σ½_B   →   merging θ_A and θ_B preserves both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6537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8"/>
                </a:solidFill>
              </a:rPr>
              <a:t>Geometric sufficient condition: if both models lie inside each other's certified ball, their midpoint does too</a:t>
            </a:r>
          </a:p>
        </p:txBody>
      </p:sp>
      <p:pic>
        <p:nvPicPr>
          <p:cNvPr id="9" name="Picture 8" descr="fig_h3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67712"/>
            <a:ext cx="7498079" cy="4297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36992" y="2267712"/>
            <a:ext cx="4023360" cy="4297680"/>
          </a:xfrm>
          <a:prstGeom prst="rect">
            <a:avLst/>
          </a:prstGeom>
          <a:solidFill>
            <a:srgbClr val="0D1B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23225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Why this is novel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706624"/>
            <a:ext cx="376732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5F5F5"/>
                </a:solidFill>
              </a:rPr>
              <a:t>→  All prior merge methods (TIES, DARE, task arithmetic) are empirical — no geometric certificate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H3 predicts success BEFORE running the merge — from σ½_A, σ½_B, and ‖θ_A − θ_B‖ alone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If H1 holds, keeping ‖Δθ_A‖ &lt; σ½ during training guarantees d &lt; σ½_A + σ½_B</a:t>
            </a:r>
          </a:p>
          <a:p>
            <a:pPr algn="l"/>
            <a:r>
              <a:rPr sz="1100">
                <a:solidFill>
                  <a:srgbClr val="F5F5F5"/>
                </a:solidFill>
              </a:rPr>
              <a:t>→  The certificate is conservative: gap &gt; 0 is sufficient, not necessary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H3  ·  Why These Tasks, Model, and Merge Method?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1170432"/>
            <a:ext cx="3794760" cy="5029200"/>
          </a:xfrm>
          <a:prstGeom prst="rect">
            <a:avLst/>
          </a:prstGeom>
          <a:solidFill>
            <a:srgbClr val="0D1B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3794760" cy="420624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122529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GPT-2-medium?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682496"/>
            <a:ext cx="3593592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GPT-2 (124M) is capacity-limited — multi-task performance saturates at low accuracy, masking the merge signal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GPT-2-medium (354M) has enough capacity to hold two tasks simultaneously — we can actually measure success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σ½_pre ≈ 0.00081 already characterised from H1; baseline well-established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Cheap enough to run 9 (LR_A, LR_B) conditions + merge evals in one A40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170432"/>
            <a:ext cx="3794760" cy="5029200"/>
          </a:xfrm>
          <a:prstGeom prst="rect">
            <a:avLst/>
          </a:prstGeom>
          <a:solidFill>
            <a:srgbClr val="0D1B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1170432"/>
            <a:ext cx="3794760" cy="420624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2529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AG News + SST-2?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682496"/>
            <a:ext cx="3593592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Different label spaces (4-class vs binary) + different text formats → genuinely conflicting weight updates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AG News is familiar → θ_A stays close to θ_pre → σ½_A stays large → easier for condition to be satisfied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SST-2 is novel → θ_B must move further → harder to satisfy condition → tests the boundary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If both tasks were familiar, d would always be small → certificate always satisfied → H3 untestable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A 'boring' pair never produces failures — we NEED gap &lt; 0 cells to falsify H3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170432"/>
            <a:ext cx="3813048" cy="5029200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7304" y="1170432"/>
            <a:ext cx="3813048" cy="420624"/>
          </a:xfrm>
          <a:prstGeom prst="rect">
            <a:avLst/>
          </a:prstGeom>
          <a:solidFill>
            <a:srgbClr val="F5C51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25296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simple averaging?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82496"/>
            <a:ext cx="3611879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5F5"/>
                </a:solidFill>
              </a:rPr>
              <a:t>→  θ_merge = (θ_A + θ_B) / 2 is the midpoint in weight space — exactly what the ball-overlap condition predicts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If the condition works for the simplest merge method, it is the strongest claim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Exotic methods (TIES, DARE) re-weight parameters in ways that obscure the geometry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If simple averaging FAILS where gap &gt; 0, H3 is cleanly falsified</a:t>
            </a:r>
          </a:p>
          <a:p>
            <a:pPr algn="l"/>
            <a:r>
              <a:rPr sz="1200">
                <a:solidFill>
                  <a:srgbClr val="F5F5F5"/>
                </a:solidFill>
              </a:rPr>
              <a:t>→  If simple averaging SUCCEEDS where gap &gt; 0, H3 is confirmed by the most skeptical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</a:rPr>
              <a:t>H3  ·  The 3×3 LR Grid — Tracing the Merge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5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C3AED"/>
                </a:solidFill>
              </a:rPr>
              <a:t>We need cells where the certificate is satisfied AND violated — otherwise we cannot falsify H3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42415"/>
            <a:ext cx="1175004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17320" y="1170432"/>
            <a:ext cx="10241280" cy="384048"/>
          </a:xfrm>
          <a:prstGeom prst="rect">
            <a:avLst/>
          </a:prstGeom>
          <a:solidFill>
            <a:srgbClr val="2A12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1887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lr_B = 1e-5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1887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lr_B = 1e-4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1887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lr_B = 2e-4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048256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lr_A = 1e-5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3621024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lr_A = 1e-4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519379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lr_A = 2e-4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591056"/>
            <a:ext cx="3200400" cy="1408176"/>
          </a:xfrm>
          <a:prstGeom prst="rect">
            <a:avLst/>
          </a:prstGeom>
          <a:solidFill>
            <a:srgbClr val="0E3D30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6776" y="1700784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≪ σ½_A + σ½_B
gap &gt;&gt; 0
H3 predicts ✓ SUCCESS
(control cell)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591056"/>
            <a:ext cx="3200400" cy="1408176"/>
          </a:xfrm>
          <a:prstGeom prst="rect">
            <a:avLst/>
          </a:prstGeom>
          <a:solidFill>
            <a:srgbClr val="0E3D30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5" y="1700784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moderate
gap &gt; 0
H3 predicts ✓ SUCCESS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591056"/>
            <a:ext cx="3200400" cy="1408176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700784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grows
gap ≈ 0
near-boundary 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163824"/>
            <a:ext cx="3200400" cy="1408176"/>
          </a:xfrm>
          <a:prstGeom prst="rect">
            <a:avLst/>
          </a:prstGeom>
          <a:solidFill>
            <a:srgbClr val="0E3D30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6776" y="3273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moderate
gap &gt; 0
H3 predicts ✓ 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163824"/>
            <a:ext cx="3200400" cy="1408176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0055" y="3273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large
gap ≈ 0
most interesting cell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163824"/>
            <a:ext cx="3200400" cy="1408176"/>
          </a:xfrm>
          <a:prstGeom prst="rect">
            <a:avLst/>
          </a:prstGeom>
          <a:solidFill>
            <a:srgbClr val="3A0C0C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3273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very large
gap &lt; 0
H3 predicts ✗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4736592"/>
            <a:ext cx="3200400" cy="1408176"/>
          </a:xfrm>
          <a:prstGeom prst="rect">
            <a:avLst/>
          </a:prstGeom>
          <a:solidFill>
            <a:srgbClr val="0D1B2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36776" y="4846320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grows
gap ≈ 0
asymmetric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736592"/>
            <a:ext cx="3200400" cy="1408176"/>
          </a:xfrm>
          <a:prstGeom prst="rect">
            <a:avLst/>
          </a:prstGeom>
          <a:solidFill>
            <a:srgbClr val="3A0C0C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0055" y="4846320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large
gap &lt; 0
H3 predicts ✗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736592"/>
            <a:ext cx="3200400" cy="1408176"/>
          </a:xfrm>
          <a:prstGeom prst="rect">
            <a:avLst/>
          </a:prstGeom>
          <a:solidFill>
            <a:srgbClr val="3A0C0C"/>
          </a:solidFill>
          <a:ln w="1524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4846320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 ≫ σ½_A + σ½_B
gap ≪ 0
H3 predicts ✗ FAILURE
(stress-test cell)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8"/>
                </a:solidFill>
              </a:rPr>
              <a:t>Green = H3 predicts success  ·  Yellow = near boundary  ·  Red = H3 predicts failure  ·  Key test: does the merge success map align with the gap sign?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Geometric Bets on σ½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749808"/>
            <a:ext cx="11750040" cy="0"/>
          </a:xfrm>
          <a:prstGeom prst="line">
            <a:avLst/>
          </a:prstGeom>
          <a:ln w="1905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914400"/>
            <a:ext cx="11750040" cy="178308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256032" cy="1783080"/>
          </a:xfrm>
          <a:prstGeom prst="rect">
            <a:avLst/>
          </a:prstGeom>
          <a:solidFill>
            <a:srgbClr val="397BB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H1  Adaptation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R = ‖Δθ‖/σ½ ≈ 1 is a universal stability 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70432"/>
            <a:ext cx="5577840" cy="1188720"/>
          </a:xfrm>
          <a:prstGeom prst="rect">
            <a:avLst/>
          </a:prstGeom>
          <a:solidFill>
            <a:srgbClr val="101020"/>
          </a:solidFill>
          <a:ln w="15240"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252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7BBF"/>
                </a:solidFill>
              </a:rPr>
              <a:t>If confirmed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53619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A model-agnostic LR / step budget rule, pre-hoc, no fine-tuning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34640"/>
            <a:ext cx="11750040" cy="178308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834640"/>
            <a:ext cx="256032" cy="1783080"/>
          </a:xfrm>
          <a:prstGeom prst="rect">
            <a:avLst/>
          </a:prstGeom>
          <a:solidFill>
            <a:srgbClr val="43C5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H2  Forgetting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6499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R_A &gt; 1 predicts Task A forgetting after sequential 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090672"/>
            <a:ext cx="5577840" cy="1188720"/>
          </a:xfrm>
          <a:prstGeom prst="rect">
            <a:avLst/>
          </a:prstGeom>
          <a:solidFill>
            <a:srgbClr val="101020"/>
          </a:solidFill>
          <a:ln w="1524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45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If confirmed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45643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σ½_A is a certified continual-learning budget; direct weight-space analog of KL penalty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754880"/>
            <a:ext cx="11750040" cy="178308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754880"/>
            <a:ext cx="256032" cy="1783080"/>
          </a:xfrm>
          <a:prstGeom prst="rect">
            <a:avLst/>
          </a:prstGeom>
          <a:solidFill>
            <a:srgbClr val="7C3AE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846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H3  Model Merging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28523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d(θ_A, θ_B) &lt; σ½_A + σ½_B predicts merge success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5010912"/>
            <a:ext cx="5577840" cy="1188720"/>
          </a:xfrm>
          <a:prstGeom prst="rect">
            <a:avLst/>
          </a:prstGeom>
          <a:solidFill>
            <a:srgbClr val="10102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5065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If confirmed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53766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First geometry-based certificate for safe model merging — predict before running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583680"/>
            <a:ext cx="11750040" cy="18288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8"/>
                </a:solidFill>
              </a:rPr>
              <a:t>Shared infrastructure: same σ½ estimator  ·  same GPU pipeline  ·  density sweeps reused across all three hypotheses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