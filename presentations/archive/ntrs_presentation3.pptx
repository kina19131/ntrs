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F5F5"/>
                </a:solidFill>
              </a:rPr>
              <a:t>Certified Basin Geometry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1">
                <a:solidFill>
                  <a:srgbClr val="B0B8C8"/>
                </a:solidFill>
              </a:rPr>
              <a:t>How Fine-Tuning Method, Model Scale, and Training Duration
Shape the Certified Weight-Space Ball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3200400"/>
            <a:ext cx="548640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3429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397BBF"/>
                </a:solidFill>
              </a:rPr>
              <a:t>Neural Thickets  ×  Randomized Smoothing  |  Progress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069080"/>
            <a:ext cx="6858000" cy="1508760"/>
          </a:xfrm>
          <a:prstGeom prst="rect">
            <a:avLst/>
          </a:prstGeom>
          <a:solidFill>
            <a:srgbClr val="0D1B2A"/>
          </a:solidFill>
          <a:ln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133087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C59E"/>
                </a:solidFill>
              </a:rPr>
              <a:t>New since last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80560"/>
            <a:ext cx="6583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F5F5F5"/>
                </a:solidFill>
              </a:rPr>
              <a:t>•  Steps sweep (Llama-3B, lr=1e-4, 200–2000 steps) — norm grows linearly, all inside ball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5F5F5"/>
                </a:solidFill>
              </a:rPr>
              <a:t>•  Trajectory run (Llama-3B, lr=2e-4, 2000 steps) — outside ball, PPL +6.4%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5F5F5"/>
                </a:solidFill>
              </a:rPr>
              <a:t>•  Full FT LR sweep on Llama-3B — 3 conditions added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5F5F5"/>
                </a:solidFill>
              </a:rPr>
              <a:t>•  33 total conditions, zero exceptions to the ball boundary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89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8C8"/>
                </a:solidFill>
              </a:rPr>
              <a:t>Kina Kim  |  SFU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Results Overview — 4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33 conditions across 4 models, 2 LoRA ranks (r=8 and r=768), multiple LRs and step counts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8600" y="1170432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2529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F1  σ½ Scaling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9105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σ½_pre shrinks 5× from GPT-2 (7.8e-4) → Llama-8B (1.6e-4). Better models sit in tighter basins. Consistent with Neural Thickets: denser clusters at scale → smaller certified radius.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286000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4086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C59E"/>
                </a:solidFill>
              </a:rPr>
              <a:t>F2  Universal PPL Safety Boundary  ← MAIN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0662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norm/σ½ &lt; 1 predicts PPL stability across 33 conditions: 4 models, 2 LoRA ranks, 6 LRs, 4 step counts. Zero exceptions. The certified ball is a model-agnostic training budget.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01568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4564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F3  Widening Depends on Scale × Rank Coverage (r/d)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2219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GPT-2 rank=8 (r/d=1%): widens 1.1–1.75×. Llama-3B rank=8 (r/d=0.26%): narrows (0.95×). Llama-3B rank=768 (r/d=25%): widens (1.18×). Widening needs sufficient r/d at a given scale.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17136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572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F4  Rank Coverage Effect Reverses Across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3776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GPT-2: low r/d (1%) widens, high r/d (100%) narrows (0.793×). Llama-3B: low r/d (0.26%) narrows, medium r/d (25%) widens. Direction of effect flips — scale × rank interaction, not just method.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170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7BBF"/>
                </a:solidFill>
              </a:rPr>
              <a:t>Key numbers  (new data)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600200"/>
            <a:ext cx="5486400" cy="3703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91640"/>
            <a:ext cx="52120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Steps sweep (Llama-3B, lr=1e-4, rank=8):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200 steps:  norm/σ½=0.368  IN  ppl=1.000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500 steps:  norm/σ½=0.488  IN  ppl=1.000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1000 steps:  norm/σ½=0.613  IN  ppl=0.998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2000 steps:  norm/σ½=0.834  IN  ppl=0.998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Trajectory (Llama-3B, lr=2e-4, 2000 steps):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norm/σ½=2.137  OUT  ppl=1.063  (+6.4%)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LoRA rank=768 Llama-3B (r/d=25%, lr=1e-5):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norm/σ½=0.366  IN  ratio=1.184×  ppl=1.009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F3/F4 reframed: 'full FT' experiments were LoRA rank=768 throughout — never true full FT.  The finding is a rank-coverage × scale interaction, not a method difference.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F2 — Universal PPL Safety Boundary  (33 conditions, zero exceptions)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norm/σ½ &lt; 1  →  PPL stable   |   norm/σ½ &gt; 1  →  PPL degrades   |   method-agnostic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4_phase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22960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41080" y="11887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3C59E"/>
                </a:solidFill>
              </a:rPr>
              <a:t>The rule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0" y="1600200"/>
            <a:ext cx="333756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69164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norm/σ½ &lt; 1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  → PPL ratio ≈ 1.000  ✓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norm/σ½ &gt; 1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  → PPL ratio &gt; 1.02  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4290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7BBF"/>
                </a:solidFill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840480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33 data points, zero exceptions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● LoRA rank=8  (24 pts, 4 models × 6 LRs)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▲ LoRA rank=768  (4 pts, GPT-2 r/d=100%  +  Llama-3B r/d=25%)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◆ LoRA rank=8  (4 pts, steps sweep, Llama-3B)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★ LoRA lr=2e-4  (1 pt, trajectory, Llama-3B)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Boundary is σ½-normalized — absolute LR is irrelevant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New: ◆ steps sweep + ★ trajectory run added.  All 4 step counts inside ball at lr=1e-4.  Trajectory point (lr=2e-4, 2000 steps) confirmed outside ball with PPL +6.4%.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F2 — Validated Across Training Duration  (new experiment)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Llama-3.2-3B, SST-2, LoRA rank=8  |  lr=1e-4: 200→2000 steps  |  lr=2e-4: endpoint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10_steps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96112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11887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C59E"/>
                </a:solidFill>
              </a:rP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6002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F5F5F5"/>
                </a:solidFill>
              </a:rPr>
              <a:t>→  Norm grows sub-linearly with steps (~steps^0.7 from 4 pts)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5F5F5"/>
                </a:solidFill>
              </a:rPr>
              <a:t>→  At lr=1e-4: all 4 step counts inside ball, PPL stable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5F5F5"/>
                </a:solidFill>
              </a:rPr>
              <a:t>→  At lr=2e-4: exits ball at step 500, PPL +6.4% at step 2000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5F5F5"/>
                </a:solidFill>
              </a:rPr>
              <a:t>→  F2 holds across the time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3794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Training budget estimate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0" y="4206240"/>
            <a:ext cx="2606040" cy="2103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429768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Linear model (conservative):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σ½ / norm_per_step ≈ 2400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√steps model (trajectory):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(σ½ / C)²  ≈  3000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True exponent uncertain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(need more step counts)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Left: norm/σ½ vs steps — sub-linear growth (exponent ~0.7, 4 pts only).  Right: PPL stable at lr=1e-4, jumps when outside ball.  σ½_pre gives a principled budget estimate; exact formula depends on growth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F2 — Basin Adapts Dynamically During Training  (new experiment)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Llama-3.2-3B, LoRA rank=8, lr=2e-4  |  checkpoint every 100 steps → 20 density measurements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11_trajectory_dyna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77824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11887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7BBF"/>
                </a:solidFill>
              </a:rPr>
              <a:t>What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600200"/>
            <a:ext cx="2788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   Previous: single endpoint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     (widening_summary only)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   New: 20 checkpoints,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     every 100 steps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   Base-layer bug fixed →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     all norms now valid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352044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C59E"/>
                </a:solidFill>
              </a:rPr>
              <a:t>Key numbers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20" y="3931920"/>
            <a:ext cx="2788920" cy="2331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4023360"/>
            <a:ext cx="2514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Step 100:  σ½ = 1.55×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norm/σ½_ft = 0.28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Step 1000: σ½ = 1.50×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norm/σ½_ft = 0.96  ✓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Step 2000: σ½ = 1.40×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norm/σ½_ft = 1.21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PPL ratio = 1.063  ✓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Norm ~ steps^0.51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(√steps, Adam RW)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Left: widening ratio at each checkpoint — always &gt; 1, jumps at step 100. Right: finetuned-ball ratio (blue) stays &lt; 1 longer than pretrained-ball ratio (red dashed). PPL +6.3% at step 2000 even though norm/σ½_pre = 2.14.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F1 — σ½ Shrinks with Model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Better models sit in tighter weight-space minima  (pretrained only, no fine-tuning)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3_sigma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22960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7BBF"/>
                </a:solidFill>
              </a:rPr>
              <a:t>Key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600200"/>
            <a:ext cx="3291840" cy="1691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69164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5F5F5"/>
                </a:solidFill>
                <a:latin typeface="Courier New"/>
              </a:rPr>
              <a:t>GPT-2  (124M):  σ½=7.78e-4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F5F5"/>
                </a:solidFill>
                <a:latin typeface="Courier New"/>
              </a:rPr>
              <a:t>Qwen   (2.5B):  σ½=2.96e-4  (2.6×)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F5F5"/>
                </a:solidFill>
                <a:latin typeface="Courier New"/>
              </a:rPr>
              <a:t>Llama  (3.0B):  σ½=1.95e-4  (4.0×)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F5F5"/>
                </a:solidFill>
                <a:latin typeface="Courier New"/>
              </a:rPr>
              <a:t>Llama  (8.0B):  σ½=1.57e-4  (5.0×)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7BBF"/>
                </a:solidFill>
              </a:rPr>
              <a:t>Implications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8862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B0B8C8"/>
                </a:solidFill>
              </a:rPr>
              <a:t>→  σ½ tracks pretrained PPL — smaller basin = better model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B0B8C8"/>
                </a:solidFill>
              </a:rPr>
              <a:t>→  Consistent with Neural Thickets: denser clusters at larger scale → tighter geometry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B0B8C8"/>
                </a:solidFill>
              </a:rPr>
              <a:t>→  Tighter σ½ → safe LR budget shrinks at scale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B0B8C8"/>
                </a:solidFill>
              </a:rPr>
              <a:t>→  Thicket threshold (~1.5B) should show a kink in this curve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σ½_pre measured on pretrained model only.  Dashed = log-linear trend.  GPT-2 is 5× wider than Llama-3.1-8B.  Absolute LR safety threshold therefore differs by 5× across this range.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F3/F4 — Widening Depends on Scale × Rank Coverage  (Llama-3B focus)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Same model, same norm budget — rank coverage (r/d) determines whether basin widens or narrows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7_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9611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7BBF"/>
                </a:solidFill>
              </a:rPr>
              <a:t>Llama-3B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1600200"/>
            <a:ext cx="2651760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6916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LoRA rank=8: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lr=1e-4, norm/σ½=0.22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ratio=0.955×  (narrows)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PPL=1.007  ✓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LoRA rank=768 (r/d=25%):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lr=1e-5, norm/σ½=0.37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ratio=1.184×  (widens!)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PPL=1.009  ✓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Both inside ball →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both PPL-stable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50292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→  F2 holds for both ranks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→  rank=8 (0.26% coverage) does NOT widen at 3B — rank=768 (25%) does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→  Higher rank LoRA accesses more directions → can reshape basin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Left: density curves — rank=768 shifts σ½ further right despite lower norm.  Right: widening scatter — rank=768 widens (▲), rank=8 (●) narrows.  Llama-3B, SST-2, 500 steps.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F3 — Basin Widening Depends on Model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GPT-2 widens inside the ball; Qwen/Llama-3B narrow; Llama-8B flat  |  LoRA rank=8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5_widening_vs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229600" cy="4645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Best safe widening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600200"/>
            <a:ext cx="3291840" cy="2743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6916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GPT-2  (124M): 1.75×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(lr=2e-4, norm/σ½=0.21)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Qwen   (2.5B): 0.82×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(lr=1e-5, norm/σ½=0.06)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Llama  (3.0B): 0.99×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(lr=5e-5, norm/σ½=0.12)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Llama  (8.0B): 1.03×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(lr=1e-4, norm/σ½=0.58)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8920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Tighter σ½ at scale → less volume to reshape inside ball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LoRA rank=8 covers only ~1% of directions → basin barely moves at 3B scale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Widening is a small-model phenomenon for LoRA rank=8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Open markers = norm/σ½ &gt; 1 (escaped certified ball).  Dashed line = ratio=1.  lr=1e-3: catastrophic collapse (clipped for readability).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Subspace Analysis — What Directions Does LoRA Affect?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GPT-2, lr=1e-4, rank=8  |  3-way noise direction comparison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8_nullspa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68680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98280" y="11887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3C59E"/>
                </a:solidFill>
              </a:rPr>
              <a:t>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8280" y="1600200"/>
            <a:ext cx="288036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69164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5F5F5"/>
                </a:solidFill>
                <a:latin typeface="Courier New"/>
              </a:rPr>
              <a:t>Isotropic noise:  1.285×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F5F5"/>
                </a:solidFill>
                <a:latin typeface="Courier New"/>
              </a:rPr>
              <a:t>Subspace noise:   1.210×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F5F5"/>
                </a:solidFill>
                <a:latin typeface="Courier New"/>
              </a:rPr>
              <a:t>Null-space noise: 1.288×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9718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7BBF"/>
                </a:solidFill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383280"/>
            <a:ext cx="2880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B0B8C8"/>
                </a:solidFill>
              </a:rPr>
              <a:t>→  Null space ≈ isotropic — the other 99% of directions are barely touched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B0B8C8"/>
                </a:solidFill>
              </a:rPr>
              <a:t>→  Subspace slightly tighter — LoRA updates do compress the certified radius in their own directions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B0B8C8"/>
                </a:solidFill>
              </a:rPr>
              <a:t>→  LoRA rank=8 covers only ~1% of the full parameter space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B0B8C8"/>
                </a:solidFill>
              </a:rPr>
              <a:t>→  Geometric effect is concentrated in a tiny subspace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GPT-2 only (archive/outputs_0604).  Subspace = noise in the 8 LoRA directions.  Null space = noise in the complementary 99% of directions.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Per-Model Summary at lr=1e-4  —  LoRA rank=8 vs LoRA rank=768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All 4 models, SST-2, 500 steps  |  Solid=rank=8  Hatched=rank=768 (GPT-2 + Llama-3B only)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9_per_mode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11731752" cy="4773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Left: widening ratio — GPT-2 widens, larger models flat/narrow.  Right: norm/σ½ — all below red boundary at lr=1e-4 across all 4 models.  rank=768 on GPT-2: r/d=100% (full-rank attention).  rank=768 on Llama-3B: r/d=25% (high-rank LoRA).  Qwen + Llama-8B: rank=768 not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What's Actually Novel — Addressing the Triviality Concern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F2 alone is vulnerable; the paper's strength is F1 + F3/F4 + the practical diagnostic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11704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4F37"/>
                </a:solidFill>
              </a:rPr>
              <a:t>The critique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60020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B0B8C8"/>
                </a:solidFill>
              </a:rPr>
              <a:t>→  σ½ is defined as the radius where performance drops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B0B8C8"/>
                </a:solidFill>
              </a:rPr>
              <a:t>→  F2 says: if you stay inside that radius, performance doesn't drop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B0B8C8"/>
                </a:solidFill>
              </a:rPr>
              <a:t>→  Isn't that just… the definition restated?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697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3C59E"/>
                </a:solidFill>
              </a:rPr>
              <a:t>Why F2 is not fully trivial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127248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B0B8C8"/>
                </a:solidFill>
              </a:rPr>
              <a:t>→  σ½ is measured with isotropic Gaussian noise — random in all directions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B0B8C8"/>
                </a:solidFill>
              </a:rPr>
              <a:t>→  Fine-tuning is the opposite: structured, gradient-directed, low-rank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B0B8C8"/>
                </a:solidFill>
              </a:rPr>
              <a:t>→  No guarantee that a random-noise radius predicts robustness to a specific directional displacement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B0B8C8"/>
                </a:solidFill>
              </a:rPr>
              <a:t>→  Like measuring a table's wobble in all directions, then predicting whether sliding an object in one specific direction is safe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B0B8C8"/>
                </a:solidFill>
              </a:rPr>
              <a:t>→  That it holds across 33 conditions (4 models, 2 methods, 6 LRs, 4 step counts) is an empirical result — not a 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70432"/>
            <a:ext cx="36576" cy="5120640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17043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7BBF"/>
                </a:solidFill>
              </a:rPr>
              <a:t>What IS novel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27632"/>
            <a:ext cx="5760720" cy="1097280"/>
          </a:xfrm>
          <a:prstGeom prst="rect">
            <a:avLst/>
          </a:prstGeom>
          <a:solidFill>
            <a:srgbClr val="0D1B2A"/>
          </a:solidFill>
          <a:ln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824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7BBF"/>
                </a:solidFill>
              </a:rPr>
              <a:t>F1  σ½ Scaling 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4825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σ½ shrinks 5× from GPT-2→8B. Not definitional — measured. Better models have tighter safety budgets. Connects to Neural Thickets.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834640"/>
            <a:ext cx="5760720" cy="1097280"/>
          </a:xfrm>
          <a:prstGeom prst="rect">
            <a:avLst/>
          </a:prstGeom>
          <a:solidFill>
            <a:srgbClr val="0D1B2A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88950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F3/F4  Rank Coverage × Scale 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5526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Both conditions are LoRA — just rank=8 vs rank=768. GPT-2: low r/d widens, high r/d narrows. Llama-3B: opposite. Direction of effect reverses across scale.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041648"/>
            <a:ext cx="5760720" cy="1097280"/>
          </a:xfrm>
          <a:prstGeom prst="rect">
            <a:avLst/>
          </a:prstGeom>
          <a:solidFill>
            <a:srgbClr val="0D1B2A"/>
          </a:solidFill>
          <a:ln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0965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C59E"/>
                </a:solidFill>
              </a:rPr>
              <a:t>Trajectory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6227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Basin widens within 100 steps and tracks norm throughout training. The safety envelope adapts in real time — not derivable from definitions.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248656"/>
            <a:ext cx="5760720" cy="1097280"/>
          </a:xfrm>
          <a:prstGeom prst="rect">
            <a:avLst/>
          </a:prstGeom>
          <a:solidFill>
            <a:srgbClr val="0D1B2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303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σ½ as Practical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6692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Measurable before fine-tuning. Predicts safe LR/step combinations without running experiments. Actionable even if math is intuitive.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F2 is supporting evidence (the tool works), not the main claim. The scaling law (F1) and method interaction (F3/F4) are not definitionally obvious and survive reviewer scrutiny.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Experiments Needed to Strengthen the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Current gaps: single task (SST-2), no true full FT, no critical rank threshold, no theoretical backing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5"/>
                </a:solidFill>
              </a:rPr>
              <a:t>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7BBF"/>
                </a:solidFill>
              </a:rPr>
              <a:t>Question it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C59E"/>
                </a:solidFill>
              </a:rPr>
              <a:t>Strengthens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" y="1517904"/>
            <a:ext cx="11731752" cy="0"/>
          </a:xfrm>
          <a:prstGeom prst="line">
            <a:avLst/>
          </a:prstGeom>
          <a:ln w="12700">
            <a:solidFill>
              <a:srgbClr val="B0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37160" y="1563624"/>
            <a:ext cx="11914632" cy="7680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" y="1856232"/>
            <a:ext cx="91440" cy="2560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00200"/>
            <a:ext cx="4709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① Rank sweep — Llama-3B
   ranks 8 → 32 → 128 → 256 → 512 → 768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600200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Where is the critical coverage %
that flips narrowing → widening?
Is it a fixed ratio of hidden_dim?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600200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3C59E"/>
                </a:solidFill>
              </a:rPr>
              <a:t>F3/F4 become a scaling law
not just two data points.
Addresses rank-triviality directly.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660904"/>
            <a:ext cx="91440" cy="2560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404872"/>
            <a:ext cx="4709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② Second task — AG News or MNLI
   same models, same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04872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Does F2 hold beyond binary
sentiment? Does σ½ scaling (F1)
reproduce on harder tasks?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0487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3C59E"/>
                </a:solidFill>
              </a:rPr>
              <a:t>Reviewers will ask about
SST-2 being too easy.
One task → four tasks.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3172968"/>
            <a:ext cx="11914632" cy="7680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592" y="3465576"/>
            <a:ext cx="91440" cy="2560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209544"/>
            <a:ext cx="4709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③ True full fine-tuning — Llama-3B
   all parameters, no LoRA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209544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Is F4 (method × scale) real?
Current 'Full FT' is LoRA r=768
(25% coverage), not true 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09544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3C59E"/>
                </a:solidFill>
              </a:rPr>
              <a:t>F4 validity. Currently the
comparison is high-rank vs
low-rank LoRA, not FT vs LoRA.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4270248"/>
            <a:ext cx="91440" cy="2560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014216"/>
            <a:ext cx="4709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④ Downstream accuracy
   (classification F1, not just PPL)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014216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Does the boundary predict
task accuracy stability,
not just perplexity?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014216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3C59E"/>
                </a:solidFill>
              </a:rPr>
              <a:t>PPL is a proxy. Accuracy is
what practitioners care about.
Makes F2 directly actionable.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" y="4782312"/>
            <a:ext cx="11914632" cy="76809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592" y="5074920"/>
            <a:ext cx="91440" cy="2560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818888"/>
            <a:ext cx="4709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⑤ 1.5B scale point
   Llama-1B or Qwen1.5-1.5B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818888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Is there a 'thicket threshold'
where σ½ drops sharply?
Or smooth scaling across sizes?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818888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3C59E"/>
                </a:solidFill>
              </a:rPr>
              <a:t>Neural Thickets connection.
Fills gap between GPT-2 and 3B
in the scaling law (F1).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5879592"/>
            <a:ext cx="91440" cy="2560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623560"/>
            <a:ext cx="4709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⑥ Quantization tolerance
   int8/int4 post-FT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623560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Does wider σ½ after FT predict
better tolerance to quantization?
Practical use case for σ½.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623560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3C59E"/>
                </a:solidFill>
              </a:rPr>
              <a:t>Gives σ½ a concrete downstream
use beyond a diagnostic.
Links to deployment workflow.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28600" y="6400800"/>
            <a:ext cx="11731752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28600" y="6473952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C8"/>
                </a:solidFill>
              </a:rPr>
              <a:t>● High priority  (blocks conference submission)    ● Medium  (strengthens framing)    ● Low  (nice to have)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Summary &amp; Open Questions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117043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C59E"/>
                </a:solidFill>
              </a:rPr>
              <a:t>What we have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5506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  F1  σ½ Scaling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σ½_pre shrinks 5× from GPT-2 → 8B. Better models = tighter basins. Aligns with Neural Thickets.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697480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75234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  F2  Universal PPL Safety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1810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norm/σ½ &lt; 1 predicts PPL stability. 33 conditions: 4 models, 2 methods, 6 LRs, 4 step counts. Zero exceptions. Temporal dimension (steps sweep) now validated.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794760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8496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  F3  Widening Depends on Scale × Rank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1538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GPT-2 rank=8 (r/d=1%) widens 1.1–1.75×. Llama-3B rank=8 (r/d=0.26%) narrows (0.95×). Llama-3B rank=768 (r/d=25%) widens (1.18×). Sufficient r/d required at a given scale.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892040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94690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  F4  Coverage Effect Reverses Across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31266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GPT-2: low r/d (1%) widens, high r/d (100%) narrows (0.793×). Llama-3B: low r/d narrows, medium r/d widens. Scale × rank interaction — direction flips.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1170432"/>
            <a:ext cx="36576" cy="5349240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1704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4F37"/>
                </a:solidFill>
              </a:rPr>
              <a:t>Open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6276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F5F5F5"/>
                </a:solidFill>
              </a:rPr>
              <a:t>→  Why does GPT-2 widen but 3B LoRA narrows? Architecture, scale, pretraining diversity?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F5F5F5"/>
                </a:solidFill>
              </a:rPr>
              <a:t>→  Does wider σ½ after FT improve generalization, or is it a geometric artifact?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F5F5F5"/>
                </a:solidFill>
              </a:rPr>
              <a:t>→  Thicket threshold (~1.5B): should σ½ show a kink there? (need a 1.5B data point)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F5F5F5"/>
                </a:solidFill>
              </a:rPr>
              <a:t>→  Can σ½ serve as an overfitting diagnostic during training (monitor per checkpoint)?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F5F5F5"/>
                </a:solidFill>
              </a:rPr>
              <a:t>→  Is 'certified ball as universal LR/steps budget rule' the right paper framing?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F5F5F5"/>
                </a:solidFill>
              </a:rPr>
              <a:t>→  Should we pursue supervised RandOpt to compare with LoRA on a common budget?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" y="5806440"/>
            <a:ext cx="11731752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8600" y="5925312"/>
            <a:ext cx="11731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For professor:  F3/F4 reframed — 'full FT' was LoRA rank=768 throughout, never true FT.  The finding is a rank-coverage × scale interaction. Key open question: what is the critical r/d threshold per scale?  Should we run the rank sweep (r=8→768 on Llama-3B) to find it?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5"/>
                </a:solidFill>
              </a:rPr>
              <a:t>H1 + H2 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F37"/>
                </a:solidFill>
              </a:rPr>
              <a:t>Sequential Forgetting Budget + LoRA Basin Geometry  |  GPT-2 &amp; GPT-2-medium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9525">
            <a:solidFill>
              <a:srgbClr val="44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11704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</a:rP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704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704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</a:rPr>
              <a:t>Key Finding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" y="1536192"/>
            <a:ext cx="11704320" cy="0"/>
          </a:xfrm>
          <a:prstGeom prst="line">
            <a:avLst/>
          </a:prstGeom>
          <a:ln w="9525">
            <a:solidFill>
              <a:srgbClr val="44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28600" y="1627632"/>
            <a:ext cx="1193292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00784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3C59E"/>
                </a:solidFill>
              </a:rPr>
              <a:t>H1  LoRA widens the loss basin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00784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3C59E"/>
                </a:solidFill>
              </a:rPr>
              <a:t>✅  Confirmed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73352"/>
            <a:ext cx="57607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</a:rPr>
              <a:t>σ½: 0.000483 (pretrained) → 0.000756 (LoRA lr=1e-4)  |  +57%
Higher LR collapses basin — training regime determines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999232"/>
            <a:ext cx="1193292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072384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H2  R_A = 1 predicts catastrophic forgetting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72384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3C59E"/>
                </a:solidFill>
              </a:rPr>
              <a:t>✅  Confirmed
(GPT-2 + medium)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044952"/>
            <a:ext cx="57607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</a:rPr>
              <a:t>R_A &lt; 1 → ≤5.6% forgetting  |  R_A &gt; 1 → ≥18% forgetting
Threshold holds across model scale (124M and 354M params)
Trajectory shows forgetting accelerates exactly at R_A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4754880"/>
            <a:ext cx="11704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H3  LoRA subspace certification  —  Partial / Revised: Subspace σ½ (0.000667) is 12% narrower than isotropic (0.000756). Update subspace is the sharpest direction; null-space ≈ isotropic is a geometric consequence of rank (8) &lt;&lt; d (85M), not an independent finding.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H2: AGNews→SST-2 forward  |  σ½_A measured with NLL (GPT-2 σ½=6.36e-4, Medium σ½=1.90e-3)  |  R_A = per-param-norm / σ½_A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5"/>
                </a:solidFill>
              </a:rPr>
              <a:t>H1 — LoRA Widens the Loss Basin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F37"/>
                </a:solidFill>
              </a:rPr>
              <a:t>Isotropic noise density  |  GPT-2, WikiText-2 NLL  |  lr=1e-4, rank=8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9525">
            <a:solidFill>
              <a:srgbClr val="44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3_density_curves_lr1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13816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117043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3C59E"/>
                </a:solidFill>
              </a:rPr>
              <a:t>Key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1572768"/>
            <a:ext cx="3429000" cy="140451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627632"/>
            <a:ext cx="3154680" cy="1506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</a:rPr>
              <a:t>Pretrained   σ½ = 0.000483
LoRA lr=1e-4  σ½ = 0.000756
                    (+57%  wider)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9718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97BBF"/>
                </a:solidFill>
              </a:rPr>
              <a:t>What this 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3374136"/>
            <a:ext cx="3429000" cy="3300984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3154680" cy="3570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</a:rPr>
              <a:t>After LoRA fine-tuning, random
weight perturbations up to 57%
larger are tolerated without loss
degradation.
Higher LR (5e-4) collapses the
basin — all σ start below 0.5.
Training regime controls the tradeoff.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834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0B8C8"/>
                </a:solidFill>
              </a:rPr>
              <a:t>H3 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5385816"/>
            <a:ext cx="3429000" cy="1746504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5440680"/>
            <a:ext cx="3154680" cy="187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</a:rPr>
              <a:t>Subspace σ½ = 0.000667 (&lt;iso)
→ LoRA update dirs are sharpest
Null ≈ iso: geometric artifact
(rank 8 &lt;&lt; d=85M)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Density = fraction of N=200 perturbations where NLL(θ+ε) ≤ NLL(θ) + 1e-4  |  σ½ = largest σ with density ≥ 0.5 (interpolated)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5"/>
                </a:solidFill>
              </a:rPr>
              <a:t>H2 — R_A = 1 Threshold  (Forward: AGNews → SST-2)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F37"/>
                </a:solidFill>
              </a:rPr>
              <a:t>R_A &lt; 1 → safe (≤5.6% forgetting)   |   R_A &gt; 1 → catastrophic forgetting (≥18%)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9525">
            <a:solidFill>
              <a:srgbClr val="44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2_fig1_forward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86968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117043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97BBF"/>
                </a:solidFill>
              </a:rPr>
              <a:t>GPT-2 (124M)</a:t>
            </a:r>
          </a:p>
        </p:txBody>
      </p:sp>
      <p:sp>
        <p:nvSpPr>
          <p:cNvPr id="8" name="Rectangle 7"/>
          <p:cNvSpPr/>
          <p:nvPr/>
        </p:nvSpPr>
        <p:spPr>
          <a:xfrm>
            <a:off x="9281160" y="1572768"/>
            <a:ext cx="2788920" cy="1730959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1627632"/>
            <a:ext cx="2514600" cy="18621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</a:rPr>
              <a:t>σ½_A = 0.000636  (NLL)
Max safe R_A:  0.967 → −5.6%
First forget:  1.516 → −18.1%
At R_A=3.0:        → −31.1%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2926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F37"/>
                </a:solidFill>
              </a:rPr>
              <a:t>GPT-2-medium (354M)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3328416"/>
            <a:ext cx="2788920" cy="1699869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3383280"/>
            <a:ext cx="2514600" cy="1828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</a:rPr>
              <a:t>σ½_A = 0.001900  (NLL)
Max safe R_A:  0.767 → −1.1%
First forget:  1.759 → −18.2%
At R_A=4.9:        → −50%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47091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3C59E"/>
                </a:solidFill>
              </a:rPr>
              <a:t>Scale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5111496"/>
            <a:ext cx="2788920" cy="1342339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5166360"/>
            <a:ext cx="2514600" cy="14392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</a:rPr>
              <a:t>Both models show same
threshold at R_A = 1.
R_A normalizes cross-
model comparisons.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8 medium conditions (0620, same Phase 1) + 6 GPT-2 conditions (0619)  |  ◆ = gap-fill conditions lr=3e-4, 4e-4  |  R_A = ‖θ_B−θ_A‖_per-param / σ½_A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5"/>
                </a:solidFill>
              </a:rPr>
              <a:t>H2 — R_A = 1 Generalizes Across Scale + Trajectory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F37"/>
                </a:solidFill>
              </a:rPr>
              <a:t>Both models align at R_A=1  |  Forgetting accelerates exactly when R_A crosses 1 during training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9525">
            <a:solidFill>
              <a:srgbClr val="44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2_fig2_combined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5943600" cy="4892040"/>
          </a:xfrm>
          <a:prstGeom prst="rect">
            <a:avLst/>
          </a:prstGeom>
        </p:spPr>
      </p:pic>
      <p:pic>
        <p:nvPicPr>
          <p:cNvPr id="7" name="Picture 6" descr="h2_fig3_traject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70432"/>
            <a:ext cx="5806440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Left: all 14 conditions, both models, one plot — blue border=GPT-2, red border=medium  |  Right: Task-A accuracy during Task-B training — R_A grows left to right as Phase 2 trains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5"/>
                </a:solidFill>
              </a:rPr>
              <a:t>H2 — Reversed (SST-2 → AGNews): Basin Asymmetry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F37"/>
                </a:solidFill>
              </a:rPr>
              <a:t>Cannot reach R_A=1 with standard LRs — SST-2 basin 49× wider than AGNews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9525">
            <a:solidFill>
              <a:srgbClr val="44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2_fig4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41248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1170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F37"/>
                </a:solidFill>
              </a:rPr>
              <a:t>What happened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0" y="1572768"/>
            <a:ext cx="3383280" cy="215066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1627632"/>
            <a:ext cx="3108960" cy="2318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</a:rPr>
              <a:t>SST-2 σ½_A = 0.031250
(acc-based, δ=5pp)
Max norm at lr=2e-4:
  = 0.00259
→ R_A_max = 0.083
Cannot reach R_A=1
with normal fine-tuning.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383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97BBF"/>
                </a:solidFill>
              </a:rPr>
              <a:t>What it 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3785616"/>
            <a:ext cx="3383280" cy="3953865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3840480"/>
            <a:ext cx="3108960" cy="42812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</a:rPr>
              <a:t>SST-2's basin is 49× wider
than AGNews's. GPT-2's
WebText pretraining is
news-heavy → AGNews
specializes sharply (narrow
basin), SST-2 sentiment is
diffuse (wide basin).
σ½_A predicts WHICH task
sequences are at risk —
not just when forgetting
occurs.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Reversed: SST-2 as Task A (acc-based σ½), AGNews as Task B  |  6 conditions, GPT-2  |  All R_A &lt; 0.09 — far from threshold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