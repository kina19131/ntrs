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75" r:id="rId25"/>
    <p:sldId id="263" r:id="rId13"/>
    <p:sldId id="264" r:id="rId14"/>
    <p:sldId id="265" r:id="rId15"/>
    <p:sldId id="266" r:id="rId16"/>
    <p:sldId id="267" r:id="rId17"/>
    <p:sldId id="276" r:id="rId26"/>
    <p:sldId id="268" r:id="rId18"/>
    <p:sldId id="269" r:id="rId19"/>
    <p:sldId id="270" r:id="rId20"/>
    <p:sldId id="271" r:id="rId21"/>
    <p:sldId id="277" r:id="rId27"/>
    <p:sldId id="272" r:id="rId22"/>
    <p:sldId id="273" r:id="rId23"/>
    <p:sldId id="274" r:id="rId2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47472" y="502920"/>
            <a:ext cx="114300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NTRS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7472" y="1600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Neural Thickets  ×  Randomized Smoothing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47472" y="2176272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>Certified Geometry of the LLM Post-Training Weight Space</a:t>
            </a:r>
            <a:endParaRPr/>
          </a:p>
        </p:txBody>
      </p:sp>
      <p:cxnSp>
        <p:nvCxnSpPr>
          <p:cNvPr id="88" name="Google Shape;88;p13"/>
          <p:cNvCxnSpPr/>
          <p:nvPr/>
        </p:nvCxnSpPr>
        <p:spPr>
          <a:xfrm>
            <a:off x="347472" y="2788920"/>
            <a:ext cx="5029200" cy="0"/>
          </a:xfrm>
          <a:prstGeom prst="straightConnector1">
            <a:avLst/>
          </a:prstGeom>
          <a:noFill/>
          <a:ln cap="flat" cmpd="sng" w="19050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89" name="Google Shape;89;p13"/>
          <p:cNvSpPr txBox="1"/>
          <p:nvPr/>
        </p:nvSpPr>
        <p:spPr>
          <a:xfrm>
            <a:off x="347472" y="301752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H1   Universal Adaptation Scale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47472" y="356616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H2   Forgetting Budget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47472" y="4114800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H3   Model Merging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347472" y="6217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Kina Kim  |  SFU  |  June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320040" y="777240"/>
            <a:ext cx="11430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Post-training has no formal guarantees</a:t>
            </a:r>
            <a:endParaRPr/>
          </a:p>
        </p:txBody>
      </p:sp>
      <p:cxnSp>
        <p:nvCxnSpPr>
          <p:cNvPr id="99" name="Google Shape;99;p14"/>
          <p:cNvCxnSpPr/>
          <p:nvPr/>
        </p:nvCxnSpPr>
        <p:spPr>
          <a:xfrm>
            <a:off x="320040" y="1572768"/>
            <a:ext cx="11521440" cy="0"/>
          </a:xfrm>
          <a:prstGeom prst="straightConnector1">
            <a:avLst/>
          </a:prstGeom>
          <a:noFill/>
          <a:ln cap="flat" cmpd="sng" w="19050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00" name="Google Shape;100;p14"/>
          <p:cNvSpPr txBox="1"/>
          <p:nvPr/>
        </p:nvSpPr>
        <p:spPr>
          <a:xfrm>
            <a:off x="320040" y="1737360"/>
            <a:ext cx="11521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LoRA, RLHF, and SFT adapt LLMs — but none answer: how far can we move θ before quality degrades?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Practitioners tune learning rate by </a:t>
            </a:r>
            <a:r>
              <a:rPr b="1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trial and error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; there is no principled safe budget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Sequential fine-tuning causes catastrophic forgetting — but </a:t>
            </a:r>
            <a:r>
              <a:rPr b="1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, and </a:t>
            </a:r>
            <a:r>
              <a:rPr b="1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by how much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Model merging works </a:t>
            </a:r>
            <a:r>
              <a:rPr b="1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empirically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but has no geometric sufficient condition for success</a:t>
            </a:r>
            <a:endParaRPr sz="2000"/>
          </a:p>
        </p:txBody>
      </p:sp>
      <p:sp>
        <p:nvSpPr>
          <p:cNvPr id="101" name="Google Shape;101;p14"/>
          <p:cNvSpPr/>
          <p:nvPr/>
        </p:nvSpPr>
        <p:spPr>
          <a:xfrm>
            <a:off x="320050" y="4297320"/>
            <a:ext cx="11521500" cy="20379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02920" y="4436028"/>
            <a:ext cx="7315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 xml:space="preserve">What a certificate </a:t>
            </a:r>
            <a:r>
              <a:rPr b="1" lang="en-US" sz="2200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>could</a:t>
            </a:r>
            <a:r>
              <a:rPr b="1" i="0" lang="en-US" sz="22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 xml:space="preserve"> buy</a:t>
            </a:r>
            <a:endParaRPr sz="2200"/>
          </a:p>
        </p:txBody>
      </p:sp>
      <p:sp>
        <p:nvSpPr>
          <p:cNvPr id="103" name="Google Shape;103;p14"/>
          <p:cNvSpPr txBox="1"/>
          <p:nvPr/>
        </p:nvSpPr>
        <p:spPr>
          <a:xfrm>
            <a:off x="502895" y="4888965"/>
            <a:ext cx="11155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Predict a safe LR and step count </a:t>
            </a:r>
            <a:r>
              <a:rPr b="0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before running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any fine-tuning</a:t>
            </a:r>
            <a:endParaRPr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Know when sequential FT will cause forgetting</a:t>
            </a:r>
            <a:r>
              <a:rPr b="0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without running it</a:t>
            </a:r>
            <a:endParaRPr i="1" sz="2000"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Certify that a model merge will succeed</a:t>
            </a:r>
            <a:r>
              <a:rPr b="0" i="1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from geometry alone</a:t>
            </a:r>
            <a:endParaRPr i="1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320040" y="640080"/>
            <a:ext cx="1143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We bring Randomized Smoothing (RS) into weight space</a:t>
            </a:r>
            <a:endParaRPr/>
          </a:p>
        </p:txBody>
      </p:sp>
      <p:cxnSp>
        <p:nvCxnSpPr>
          <p:cNvPr id="110" name="Google Shape;110;p15"/>
          <p:cNvCxnSpPr/>
          <p:nvPr/>
        </p:nvCxnSpPr>
        <p:spPr>
          <a:xfrm>
            <a:off x="320040" y="1371600"/>
            <a:ext cx="11521440" cy="0"/>
          </a:xfrm>
          <a:prstGeom prst="straightConnector1">
            <a:avLst/>
          </a:prstGeom>
          <a:noFill/>
          <a:ln cap="flat" cmpd="sng" w="19050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11" name="Google Shape;111;p15"/>
          <p:cNvSpPr/>
          <p:nvPr/>
        </p:nvSpPr>
        <p:spPr>
          <a:xfrm>
            <a:off x="320040" y="1508760"/>
            <a:ext cx="5486400" cy="210312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B0B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75488" y="1554480"/>
            <a:ext cx="5120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n-US" sz="2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riginal RS</a:t>
            </a:r>
            <a:endParaRPr sz="2300"/>
          </a:p>
        </p:txBody>
      </p:sp>
      <p:sp>
        <p:nvSpPr>
          <p:cNvPr id="113" name="Google Shape;113;p15"/>
          <p:cNvSpPr txBox="1"/>
          <p:nvPr/>
        </p:nvSpPr>
        <p:spPr>
          <a:xfrm>
            <a:off x="475488" y="2146434"/>
            <a:ext cx="5120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Perturb the </a:t>
            </a:r>
            <a:r>
              <a:rPr b="1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x with Gaussian noise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Certify robustness to adversarial input changes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Radius in input space: r* = σ · Φ⁻¹(p_A)</a:t>
            </a:r>
            <a:endParaRPr sz="1800"/>
          </a:p>
        </p:txBody>
      </p:sp>
      <p:sp>
        <p:nvSpPr>
          <p:cNvPr id="114" name="Google Shape;114;p15"/>
          <p:cNvSpPr/>
          <p:nvPr/>
        </p:nvSpPr>
        <p:spPr>
          <a:xfrm>
            <a:off x="6080760" y="1508760"/>
            <a:ext cx="5760720" cy="210312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236208" y="1554480"/>
            <a:ext cx="5394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NTRS — weight-space RS  (this work)</a:t>
            </a:r>
            <a:endParaRPr sz="2300"/>
          </a:p>
        </p:txBody>
      </p:sp>
      <p:sp>
        <p:nvSpPr>
          <p:cNvPr id="116" name="Google Shape;116;p15"/>
          <p:cNvSpPr txBox="1"/>
          <p:nvPr/>
        </p:nvSpPr>
        <p:spPr>
          <a:xfrm>
            <a:off x="6236208" y="2146434"/>
            <a:ext cx="5394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Perturb the </a:t>
            </a:r>
            <a:r>
              <a:rPr b="1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WEIGHTS</a:t>
            </a: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θ with Gaussian noise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Certify robustness to post-training weight changes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 Same Binomial CI machinery </a:t>
            </a:r>
            <a:endParaRPr sz="180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=&gt; </a:t>
            </a:r>
            <a:r>
              <a:rPr b="1" i="1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new domain, new meaning</a:t>
            </a:r>
            <a:endParaRPr b="1" i="1" sz="1800"/>
          </a:p>
        </p:txBody>
      </p:sp>
      <p:sp>
        <p:nvSpPr>
          <p:cNvPr id="117" name="Google Shape;117;p15"/>
          <p:cNvSpPr/>
          <p:nvPr/>
        </p:nvSpPr>
        <p:spPr>
          <a:xfrm>
            <a:off x="320040" y="4290702"/>
            <a:ext cx="11521500" cy="1280100"/>
          </a:xfrm>
          <a:prstGeom prst="rect">
            <a:avLst/>
          </a:prstGeom>
          <a:solidFill>
            <a:srgbClr val="1A3A5C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02920" y="4418718"/>
            <a:ext cx="11155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C(θ, σ)  =  P_{ε ~ N(0, σ²I)}[ s(θ + ε)  ≥  m ]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02920" y="4985646"/>
            <a:ext cx="1115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s(θ) = quality score  (e.g. WikiText-2 NLL)     m = quality threshold</a:t>
            </a:r>
            <a:endParaRPr sz="2000"/>
          </a:p>
        </p:txBody>
      </p:sp>
      <p:sp>
        <p:nvSpPr>
          <p:cNvPr id="120" name="Google Shape;120;p15"/>
          <p:cNvSpPr txBox="1"/>
          <p:nvPr/>
        </p:nvSpPr>
        <p:spPr>
          <a:xfrm>
            <a:off x="320040" y="5621916"/>
            <a:ext cx="1152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(GPT2 models trained on WebText; WikiText-2 for validation as a benchmark)</a:t>
            </a:r>
            <a:endParaRPr i="1" sz="2000">
              <a:solidFill>
                <a:srgbClr val="B0B8C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 C → 1.0: model survives ALL perturbations of scale σ  (deep inside the basin)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=&gt;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 C → 0.0: model is at the edge — small noise degrades quality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228600" y="91440"/>
            <a:ext cx="117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C(θ, σ)</a:t>
            </a: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→ </a:t>
            </a: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σ½ visualization </a:t>
            </a:r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128" name="Google Shape;128;p16" title="fig_density_curve.png"/>
          <p:cNvPicPr preferRelativeResize="0"/>
          <p:nvPr/>
        </p:nvPicPr>
        <p:blipFill rotWithShape="1">
          <a:blip r:embed="rId3">
            <a:alphaModFix/>
          </a:blip>
          <a:srcRect b="0" l="0" r="8408" t="0"/>
          <a:stretch/>
        </p:blipFill>
        <p:spPr>
          <a:xfrm>
            <a:off x="251463" y="1802817"/>
            <a:ext cx="7909573" cy="42596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/>
          <p:nvPr/>
        </p:nvSpPr>
        <p:spPr>
          <a:xfrm>
            <a:off x="8321050" y="1171950"/>
            <a:ext cx="3657600" cy="28584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8485632" y="1188720"/>
            <a:ext cx="33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Reading the curve</a:t>
            </a:r>
            <a:endParaRPr sz="1800"/>
          </a:p>
        </p:txBody>
      </p:sp>
      <p:sp>
        <p:nvSpPr>
          <p:cNvPr id="131" name="Google Shape;131;p16"/>
          <p:cNvSpPr txBox="1"/>
          <p:nvPr/>
        </p:nvSpPr>
        <p:spPr>
          <a:xfrm>
            <a:off x="8485632" y="1591056"/>
            <a:ext cx="3401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Left of σ½: </a:t>
            </a:r>
            <a:b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model is robust — nearly all perturbations preserve quality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σ½: </a:t>
            </a:r>
            <a:b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the half-way point — 50 % of perturbations now degrade quality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Right of σ½: </a:t>
            </a:r>
            <a:b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model is fragile at this noise scale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500"/>
              <a:buFont typeface="Calibri"/>
              <a:buChar char="●"/>
            </a:pP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Pretrained model has a MUCH wider safe zone than random-init</a:t>
            </a:r>
            <a:endParaRPr sz="1500"/>
          </a:p>
        </p:txBody>
      </p:sp>
      <p:sp>
        <p:nvSpPr>
          <p:cNvPr id="132" name="Google Shape;132;p16"/>
          <p:cNvSpPr/>
          <p:nvPr/>
        </p:nvSpPr>
        <p:spPr>
          <a:xfrm>
            <a:off x="8321050" y="4304900"/>
            <a:ext cx="3657600" cy="2191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8485632" y="4359763"/>
            <a:ext cx="338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σ½ in one sentence</a:t>
            </a:r>
            <a:endParaRPr sz="1800"/>
          </a:p>
        </p:txBody>
      </p:sp>
      <p:sp>
        <p:nvSpPr>
          <p:cNvPr id="134" name="Google Shape;134;p16"/>
          <p:cNvSpPr txBox="1"/>
          <p:nvPr/>
        </p:nvSpPr>
        <p:spPr>
          <a:xfrm>
            <a:off x="8485632" y="4743811"/>
            <a:ext cx="338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σ½  is the certified radius of the pretrained model's weight-space basin</a:t>
            </a:r>
            <a:endParaRPr sz="1500"/>
          </a:p>
        </p:txBody>
      </p:sp>
      <p:sp>
        <p:nvSpPr>
          <p:cNvPr id="135" name="Google Shape;135;p16"/>
          <p:cNvSpPr txBox="1"/>
          <p:nvPr/>
        </p:nvSpPr>
        <p:spPr>
          <a:xfrm>
            <a:off x="8485632" y="5511907"/>
            <a:ext cx="3401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</a:t>
            </a: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Smaller σ½  </a:t>
            </a:r>
            <a:b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	=  sharper minimum  </a:t>
            </a:r>
            <a:b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	=  better-trained model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σ½ is the radius of the safe zone in weight space</a:t>
            </a:r>
            <a:endParaRPr/>
          </a:p>
        </p:txBody>
      </p:sp>
      <p:cxnSp>
        <p:nvCxnSpPr>
          <p:cNvPr id="142" name="Google Shape;142;p17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43" name="Google Shape;143;p17"/>
          <p:cNvSpPr/>
          <p:nvPr/>
        </p:nvSpPr>
        <p:spPr>
          <a:xfrm>
            <a:off x="6126480" y="1133856"/>
            <a:ext cx="5760720" cy="2340864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6291072" y="1188720"/>
            <a:ext cx="53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Inside the ball  ✓</a:t>
            </a:r>
            <a:endParaRPr sz="2200"/>
          </a:p>
        </p:txBody>
      </p:sp>
      <p:sp>
        <p:nvSpPr>
          <p:cNvPr id="145" name="Google Shape;145;p17"/>
          <p:cNvSpPr txBox="1"/>
          <p:nvPr/>
        </p:nvSpPr>
        <p:spPr>
          <a:xfrm>
            <a:off x="6126475" y="1704600"/>
            <a:ext cx="5760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‖ε‖ &lt; σ½  →  s(θ+ε) ≥ m  with high probability</a:t>
            </a:r>
            <a:endParaRPr sz="22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Fine-tuned model stays near pretrained quality</a:t>
            </a:r>
            <a:endParaRPr sz="22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WikiText-2 PPL ratio stays ≈ 1.0</a:t>
            </a:r>
            <a:endParaRPr sz="2200"/>
          </a:p>
        </p:txBody>
      </p:sp>
      <p:sp>
        <p:nvSpPr>
          <p:cNvPr id="146" name="Google Shape;146;p17"/>
          <p:cNvSpPr/>
          <p:nvPr/>
        </p:nvSpPr>
        <p:spPr>
          <a:xfrm>
            <a:off x="6126475" y="3621025"/>
            <a:ext cx="5760600" cy="2512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6291072" y="3675887"/>
            <a:ext cx="5394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>Outside the ball  ✗</a:t>
            </a:r>
            <a:endParaRPr sz="2200"/>
          </a:p>
        </p:txBody>
      </p:sp>
      <p:sp>
        <p:nvSpPr>
          <p:cNvPr id="148" name="Google Shape;148;p17"/>
          <p:cNvSpPr txBox="1"/>
          <p:nvPr/>
        </p:nvSpPr>
        <p:spPr>
          <a:xfrm>
            <a:off x="6126475" y="4191750"/>
            <a:ext cx="63513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‖ε‖ &gt; σ½  →  quality degrades in expectation</a:t>
            </a:r>
            <a:endParaRPr sz="22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Fine-tuned model drifts off the </a:t>
            </a:r>
            <a:b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pretrained loss</a:t>
            </a:r>
            <a:r>
              <a:rPr lang="en-US" sz="20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surface</a:t>
            </a:r>
            <a:endParaRPr sz="2200"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WikiText-2 PPL ratio rises above 1.02</a:t>
            </a:r>
            <a:endParaRPr sz="2200"/>
          </a:p>
        </p:txBody>
      </p:sp>
      <p:sp>
        <p:nvSpPr>
          <p:cNvPr id="149" name="Google Shape;149;p17"/>
          <p:cNvSpPr txBox="1"/>
          <p:nvPr/>
        </p:nvSpPr>
        <p:spPr>
          <a:xfrm>
            <a:off x="228600" y="6355080"/>
            <a:ext cx="1175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Perturbations are isotropic Gaussian — random direction, fixed scale σ</a:t>
            </a:r>
            <a:endParaRPr sz="1900"/>
          </a:p>
        </p:txBody>
      </p:sp>
      <p:pic>
        <p:nvPicPr>
          <p:cNvPr id="150" name="Google Shape;150;p17" title="fig_loss_basin.png"/>
          <p:cNvPicPr preferRelativeResize="0"/>
          <p:nvPr/>
        </p:nvPicPr>
        <p:blipFill rotWithShape="1">
          <a:blip r:embed="rId3">
            <a:alphaModFix/>
          </a:blip>
          <a:srcRect b="12018" l="0" r="0" t="0"/>
          <a:stretch/>
        </p:blipFill>
        <p:spPr>
          <a:xfrm>
            <a:off x="544175" y="1399050"/>
            <a:ext cx="5129575" cy="45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28600" y="91440"/>
            <a:ext cx="117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Motivation behind</a:t>
            </a: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σ½ for</a:t>
            </a: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three hypotheses</a:t>
            </a:r>
            <a:endParaRPr/>
          </a:p>
        </p:txBody>
      </p:sp>
      <p:cxnSp>
        <p:nvCxnSpPr>
          <p:cNvPr id="157" name="Google Shape;157;p18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8"/>
          <p:cNvSpPr/>
          <p:nvPr/>
        </p:nvSpPr>
        <p:spPr>
          <a:xfrm>
            <a:off x="22860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28600" y="1170432"/>
            <a:ext cx="5742432" cy="420624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5661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Model-agnostic</a:t>
            </a:r>
            <a:endParaRPr sz="2100"/>
          </a:p>
        </p:txBody>
      </p:sp>
      <p:sp>
        <p:nvSpPr>
          <p:cNvPr id="161" name="Google Shape;161;p18"/>
          <p:cNvSpPr txBox="1"/>
          <p:nvPr/>
        </p:nvSpPr>
        <p:spPr>
          <a:xfrm>
            <a:off x="356616" y="1682496"/>
            <a:ext cx="5541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σ½ absorbs differences in scale, arch, and 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pre-training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quality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‖Δθ‖ / σ½ is dimensionless </a:t>
            </a:r>
            <a:b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C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omparable across GPT-2, Llama, etc.</a:t>
            </a:r>
            <a:endParaRPr sz="2100"/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W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ithout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each model needs its own threshold</a:t>
            </a:r>
            <a:endParaRPr sz="2100"/>
          </a:p>
        </p:txBody>
      </p:sp>
      <p:sp>
        <p:nvSpPr>
          <p:cNvPr id="162" name="Google Shape;162;p18"/>
          <p:cNvSpPr/>
          <p:nvPr/>
        </p:nvSpPr>
        <p:spPr>
          <a:xfrm>
            <a:off x="621792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17920" y="1170432"/>
            <a:ext cx="5742432" cy="420624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34593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Measurable before fine-tuning</a:t>
            </a:r>
            <a:endParaRPr sz="2100"/>
          </a:p>
        </p:txBody>
      </p:sp>
      <p:sp>
        <p:nvSpPr>
          <p:cNvPr id="165" name="Google Shape;165;p18"/>
          <p:cNvSpPr txBox="1"/>
          <p:nvPr/>
        </p:nvSpPr>
        <p:spPr>
          <a:xfrm>
            <a:off x="6345936" y="16824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Computed on θ_pre in ~2 min 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 task labels, no fine-tuning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Gives a predictive budget BEFORE the experiment starts</a:t>
            </a:r>
            <a:endParaRPr sz="2100"/>
          </a:p>
        </p:txBody>
      </p:sp>
      <p:sp>
        <p:nvSpPr>
          <p:cNvPr id="166" name="Google Shape;166;p18"/>
          <p:cNvSpPr/>
          <p:nvPr/>
        </p:nvSpPr>
        <p:spPr>
          <a:xfrm>
            <a:off x="22860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28600" y="3913632"/>
            <a:ext cx="5742432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5661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Interpretable geometry</a:t>
            </a:r>
            <a:endParaRPr sz="2100"/>
          </a:p>
        </p:txBody>
      </p:sp>
      <p:sp>
        <p:nvSpPr>
          <p:cNvPr id="169" name="Google Shape;169;p18"/>
          <p:cNvSpPr txBox="1"/>
          <p:nvPr/>
        </p:nvSpPr>
        <p:spPr>
          <a:xfrm>
            <a:off x="356625" y="4425700"/>
            <a:ext cx="5742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R_A &gt; 1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: </a:t>
            </a:r>
            <a:b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	“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you have left the certified basin of Task A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&lt; (σ½_A + σ½_B)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	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the two basins overlap — merge is safe</a:t>
            </a: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Geometric picture is intuitive and falsifiable</a:t>
            </a:r>
            <a:endParaRPr sz="2100"/>
          </a:p>
        </p:txBody>
      </p:sp>
      <p:sp>
        <p:nvSpPr>
          <p:cNvPr id="170" name="Google Shape;170;p18"/>
          <p:cNvSpPr/>
          <p:nvPr/>
        </p:nvSpPr>
        <p:spPr>
          <a:xfrm>
            <a:off x="621792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217920" y="3913632"/>
            <a:ext cx="5742432" cy="420624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34593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Connects to Neural Thickets</a:t>
            </a:r>
            <a:endParaRPr sz="2100"/>
          </a:p>
        </p:txBody>
      </p:sp>
      <p:sp>
        <p:nvSpPr>
          <p:cNvPr id="173" name="Google Shape;173;p18"/>
          <p:cNvSpPr txBox="1"/>
          <p:nvPr/>
        </p:nvSpPr>
        <p:spPr>
          <a:xfrm>
            <a:off x="6345936" y="44256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Larger / better-trained models 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	→ smaller σ½  (tighter basin)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Consistent with NT solution-density scaling law</a:t>
            </a:r>
            <a:endParaRPr sz="2100"/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σ½ is the empirical correlate of 'thicket density'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228600" y="73152"/>
            <a:ext cx="114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H1  ·  Universal Adaptation Scale</a:t>
            </a:r>
            <a:endParaRPr sz="2000"/>
          </a:p>
        </p:txBody>
      </p:sp>
      <p:sp>
        <p:nvSpPr>
          <p:cNvPr id="180" name="Google Shape;180;p19"/>
          <p:cNvSpPr txBox="1"/>
          <p:nvPr/>
        </p:nvSpPr>
        <p:spPr>
          <a:xfrm>
            <a:off x="228600" y="810289"/>
            <a:ext cx="1143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One </a:t>
            </a:r>
            <a:r>
              <a:rPr b="1" i="1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normalised</a:t>
            </a: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number </a:t>
            </a: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stability predi</a:t>
            </a: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ction</a:t>
            </a:r>
            <a:endParaRPr/>
          </a:p>
        </p:txBody>
      </p:sp>
      <p:cxnSp>
        <p:nvCxnSpPr>
          <p:cNvPr id="181" name="Google Shape;181;p19"/>
          <p:cNvCxnSpPr/>
          <p:nvPr/>
        </p:nvCxnSpPr>
        <p:spPr>
          <a:xfrm>
            <a:off x="228600" y="1371600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82" name="Google Shape;182;p19"/>
          <p:cNvSpPr/>
          <p:nvPr/>
        </p:nvSpPr>
        <p:spPr>
          <a:xfrm>
            <a:off x="228600" y="1760060"/>
            <a:ext cx="11750100" cy="1261800"/>
          </a:xfrm>
          <a:prstGeom prst="rect">
            <a:avLst/>
          </a:prstGeom>
          <a:solidFill>
            <a:srgbClr val="1A3A5C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411480" y="1888076"/>
            <a:ext cx="1133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 = ‖Δθ‖ / σ½_pre  ≈  1   is a universal stability boundary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11480" y="2363563"/>
            <a:ext cx="1133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Normalising by σ½ collapses all PPL-degradation curves onto one trajectory</a:t>
            </a:r>
            <a:endParaRPr sz="1800"/>
          </a:p>
        </p:txBody>
      </p:sp>
      <p:sp>
        <p:nvSpPr>
          <p:cNvPr id="185" name="Google Shape;185;p19"/>
          <p:cNvSpPr txBox="1"/>
          <p:nvPr/>
        </p:nvSpPr>
        <p:spPr>
          <a:xfrm>
            <a:off x="228600" y="3262724"/>
            <a:ext cx="117501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 &lt; 1  →  update inside the certified ball  →  pretraining quality preserved</a:t>
            </a:r>
            <a:endParaRPr sz="1800"/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 &gt; 1  →  update outside the ball  →  WikiText-2 PPL degrades</a:t>
            </a:r>
            <a:endParaRPr sz="1800"/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σ½ is the natural unit that makes fine-tuning scale comparable across architectures</a:t>
            </a:r>
            <a:endParaRPr sz="1800"/>
          </a:p>
        </p:txBody>
      </p:sp>
      <p:sp>
        <p:nvSpPr>
          <p:cNvPr id="186" name="Google Shape;186;p19"/>
          <p:cNvSpPr txBox="1"/>
          <p:nvPr/>
        </p:nvSpPr>
        <p:spPr>
          <a:xfrm>
            <a:off x="228600" y="4632800"/>
            <a:ext cx="1175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Analogies to known scaling laws</a:t>
            </a:r>
            <a:endParaRPr sz="1800"/>
          </a:p>
        </p:txBody>
      </p:sp>
      <p:sp>
        <p:nvSpPr>
          <p:cNvPr id="187" name="Google Shape;187;p19"/>
          <p:cNvSpPr/>
          <p:nvPr/>
        </p:nvSpPr>
        <p:spPr>
          <a:xfrm>
            <a:off x="228600" y="5053426"/>
            <a:ext cx="3794700" cy="13854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20040" y="5176163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Chinchilla</a:t>
            </a:r>
            <a:endParaRPr sz="2000"/>
          </a:p>
        </p:txBody>
      </p:sp>
      <p:sp>
        <p:nvSpPr>
          <p:cNvPr id="189" name="Google Shape;189;p19"/>
          <p:cNvSpPr txBox="1"/>
          <p:nvPr/>
        </p:nvSpPr>
        <p:spPr>
          <a:xfrm>
            <a:off x="320040" y="5523635"/>
            <a:ext cx="356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N_tokens / N_params ≈ 20  collapses loss across model sizes</a:t>
            </a:r>
            <a:endParaRPr sz="2000"/>
          </a:p>
        </p:txBody>
      </p:sp>
      <p:sp>
        <p:nvSpPr>
          <p:cNvPr id="190" name="Google Shape;190;p19"/>
          <p:cNvSpPr/>
          <p:nvPr/>
        </p:nvSpPr>
        <p:spPr>
          <a:xfrm>
            <a:off x="4206239" y="5053426"/>
            <a:ext cx="3794700" cy="13854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4297681" y="5176163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μP</a:t>
            </a:r>
            <a:endParaRPr sz="2000"/>
          </a:p>
        </p:txBody>
      </p:sp>
      <p:sp>
        <p:nvSpPr>
          <p:cNvPr id="192" name="Google Shape;192;p19"/>
          <p:cNvSpPr txBox="1"/>
          <p:nvPr/>
        </p:nvSpPr>
        <p:spPr>
          <a:xfrm>
            <a:off x="4297681" y="5523635"/>
            <a:ext cx="356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lr / √width  collapses training curves across widths</a:t>
            </a:r>
            <a:endParaRPr sz="2000"/>
          </a:p>
        </p:txBody>
      </p:sp>
      <p:sp>
        <p:nvSpPr>
          <p:cNvPr id="193" name="Google Shape;193;p19"/>
          <p:cNvSpPr/>
          <p:nvPr/>
        </p:nvSpPr>
        <p:spPr>
          <a:xfrm>
            <a:off x="8183876" y="5053426"/>
            <a:ext cx="3794700" cy="13854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8275320" y="5176163"/>
            <a:ext cx="356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H1  (claim)</a:t>
            </a:r>
            <a:endParaRPr sz="2000"/>
          </a:p>
        </p:txBody>
      </p:sp>
      <p:sp>
        <p:nvSpPr>
          <p:cNvPr id="195" name="Google Shape;195;p19"/>
          <p:cNvSpPr txBox="1"/>
          <p:nvPr/>
        </p:nvSpPr>
        <p:spPr>
          <a:xfrm>
            <a:off x="8275320" y="5523635"/>
            <a:ext cx="356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‖Δθ‖ / σ½  collapses PPL curves across tasks, models, LRs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H1 — Visualised: before and after σ½ normalisation</a:t>
            </a:r>
            <a:endParaRPr/>
          </a:p>
        </p:txBody>
      </p:sp>
      <p:cxnSp>
        <p:nvCxnSpPr>
          <p:cNvPr id="202" name="Google Shape;202;p20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id="203" name="Google Shape;203;p20" title="fig_h1_norm.png"/>
          <p:cNvPicPr preferRelativeResize="0"/>
          <p:nvPr/>
        </p:nvPicPr>
        <p:blipFill rotWithShape="1">
          <a:blip r:embed="rId3">
            <a:alphaModFix/>
          </a:blip>
          <a:srcRect b="0" l="4095" r="4086" t="0"/>
          <a:stretch/>
        </p:blipFill>
        <p:spPr>
          <a:xfrm>
            <a:off x="256032" y="1133856"/>
            <a:ext cx="11704321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 txBox="1"/>
          <p:nvPr/>
        </p:nvSpPr>
        <p:spPr>
          <a:xfrm>
            <a:off x="228600" y="6355080"/>
            <a:ext cx="1175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Illustrative.  If H1 holds, the right panel collapses to a single curve with a kink at R = 1.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H1  ·  Experiment Scope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228600" y="658368"/>
            <a:ext cx="11750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9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5 models  ×  5 tasks  ×  6 LRs  =  150 fine-tuning runs</a:t>
            </a:r>
            <a:endParaRPr sz="1800"/>
          </a:p>
        </p:txBody>
      </p:sp>
      <p:cxnSp>
        <p:nvCxnSpPr>
          <p:cNvPr id="212" name="Google Shape;212;p21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3" name="Google Shape;213;p21"/>
          <p:cNvSpPr/>
          <p:nvPr/>
        </p:nvSpPr>
        <p:spPr>
          <a:xfrm>
            <a:off x="3257550" y="1477225"/>
            <a:ext cx="5334000" cy="4206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303270" y="1495525"/>
            <a:ext cx="265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800"/>
          </a:p>
        </p:txBody>
      </p:sp>
      <p:sp>
        <p:nvSpPr>
          <p:cNvPr id="215" name="Google Shape;215;p21"/>
          <p:cNvSpPr txBox="1"/>
          <p:nvPr/>
        </p:nvSpPr>
        <p:spPr>
          <a:xfrm>
            <a:off x="5379720" y="1495525"/>
            <a:ext cx="155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Params</a:t>
            </a:r>
            <a:endParaRPr sz="1800"/>
          </a:p>
        </p:txBody>
      </p:sp>
      <p:sp>
        <p:nvSpPr>
          <p:cNvPr id="216" name="Google Shape;216;p21"/>
          <p:cNvSpPr txBox="1"/>
          <p:nvPr/>
        </p:nvSpPr>
        <p:spPr>
          <a:xfrm>
            <a:off x="6987540" y="1495525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σ½_pre</a:t>
            </a:r>
            <a:endParaRPr sz="1800"/>
          </a:p>
        </p:txBody>
      </p:sp>
      <p:sp>
        <p:nvSpPr>
          <p:cNvPr id="217" name="Google Shape;217;p21"/>
          <p:cNvSpPr/>
          <p:nvPr/>
        </p:nvSpPr>
        <p:spPr>
          <a:xfrm>
            <a:off x="3257550" y="1916140"/>
            <a:ext cx="5334000" cy="420600"/>
          </a:xfrm>
          <a:prstGeom prst="rect">
            <a:avLst/>
          </a:prstGeom>
          <a:solidFill>
            <a:srgbClr val="12223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3303270" y="1961869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</a:t>
            </a:r>
            <a:endParaRPr sz="1800"/>
          </a:p>
        </p:txBody>
      </p:sp>
      <p:sp>
        <p:nvSpPr>
          <p:cNvPr id="219" name="Google Shape;219;p21"/>
          <p:cNvSpPr txBox="1"/>
          <p:nvPr/>
        </p:nvSpPr>
        <p:spPr>
          <a:xfrm>
            <a:off x="5379720" y="1961869"/>
            <a:ext cx="15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124 M</a:t>
            </a:r>
            <a:endParaRPr sz="1800"/>
          </a:p>
        </p:txBody>
      </p:sp>
      <p:sp>
        <p:nvSpPr>
          <p:cNvPr id="220" name="Google Shape;220;p21"/>
          <p:cNvSpPr txBox="1"/>
          <p:nvPr/>
        </p:nvSpPr>
        <p:spPr>
          <a:xfrm>
            <a:off x="6987540" y="1961869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~0.00060</a:t>
            </a:r>
            <a:endParaRPr sz="1800"/>
          </a:p>
        </p:txBody>
      </p:sp>
      <p:sp>
        <p:nvSpPr>
          <p:cNvPr id="221" name="Google Shape;221;p21"/>
          <p:cNvSpPr/>
          <p:nvPr/>
        </p:nvSpPr>
        <p:spPr>
          <a:xfrm>
            <a:off x="3257550" y="2355055"/>
            <a:ext cx="5334000" cy="4206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3303270" y="2400781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GPT-2-medium</a:t>
            </a:r>
            <a:endParaRPr sz="1800"/>
          </a:p>
        </p:txBody>
      </p:sp>
      <p:sp>
        <p:nvSpPr>
          <p:cNvPr id="223" name="Google Shape;223;p21"/>
          <p:cNvSpPr txBox="1"/>
          <p:nvPr/>
        </p:nvSpPr>
        <p:spPr>
          <a:xfrm>
            <a:off x="5379720" y="2400781"/>
            <a:ext cx="15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354 M</a:t>
            </a:r>
            <a:endParaRPr sz="1800"/>
          </a:p>
        </p:txBody>
      </p:sp>
      <p:sp>
        <p:nvSpPr>
          <p:cNvPr id="224" name="Google Shape;224;p21"/>
          <p:cNvSpPr txBox="1"/>
          <p:nvPr/>
        </p:nvSpPr>
        <p:spPr>
          <a:xfrm>
            <a:off x="6987540" y="2400781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~0.00081</a:t>
            </a:r>
            <a:endParaRPr sz="1800"/>
          </a:p>
        </p:txBody>
      </p:sp>
      <p:sp>
        <p:nvSpPr>
          <p:cNvPr id="225" name="Google Shape;225;p21"/>
          <p:cNvSpPr/>
          <p:nvPr/>
        </p:nvSpPr>
        <p:spPr>
          <a:xfrm>
            <a:off x="3257550" y="2793970"/>
            <a:ext cx="5334000" cy="420600"/>
          </a:xfrm>
          <a:prstGeom prst="rect">
            <a:avLst/>
          </a:prstGeom>
          <a:solidFill>
            <a:srgbClr val="12223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303270" y="2839692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GPT-2-large</a:t>
            </a:r>
            <a:endParaRPr sz="1800"/>
          </a:p>
        </p:txBody>
      </p:sp>
      <p:sp>
        <p:nvSpPr>
          <p:cNvPr id="227" name="Google Shape;227;p21"/>
          <p:cNvSpPr txBox="1"/>
          <p:nvPr/>
        </p:nvSpPr>
        <p:spPr>
          <a:xfrm>
            <a:off x="5379720" y="2839692"/>
            <a:ext cx="15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774 M</a:t>
            </a:r>
            <a:endParaRPr sz="1800"/>
          </a:p>
        </p:txBody>
      </p:sp>
      <p:sp>
        <p:nvSpPr>
          <p:cNvPr id="228" name="Google Shape;228;p21"/>
          <p:cNvSpPr txBox="1"/>
          <p:nvPr/>
        </p:nvSpPr>
        <p:spPr>
          <a:xfrm>
            <a:off x="6987540" y="2839692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~0.00060</a:t>
            </a:r>
            <a:endParaRPr sz="1800"/>
          </a:p>
        </p:txBody>
      </p:sp>
      <p:sp>
        <p:nvSpPr>
          <p:cNvPr id="229" name="Google Shape;229;p21"/>
          <p:cNvSpPr/>
          <p:nvPr/>
        </p:nvSpPr>
        <p:spPr>
          <a:xfrm>
            <a:off x="3257550" y="3232885"/>
            <a:ext cx="5334000" cy="4206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303270" y="3278605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GPT-2-xl</a:t>
            </a:r>
            <a:endParaRPr sz="1800"/>
          </a:p>
        </p:txBody>
      </p:sp>
      <p:sp>
        <p:nvSpPr>
          <p:cNvPr id="231" name="Google Shape;231;p21"/>
          <p:cNvSpPr txBox="1"/>
          <p:nvPr/>
        </p:nvSpPr>
        <p:spPr>
          <a:xfrm>
            <a:off x="5379720" y="3278605"/>
            <a:ext cx="15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1.5 B</a:t>
            </a:r>
            <a:endParaRPr sz="1800"/>
          </a:p>
        </p:txBody>
      </p:sp>
      <p:sp>
        <p:nvSpPr>
          <p:cNvPr id="232" name="Google Shape;232;p21"/>
          <p:cNvSpPr txBox="1"/>
          <p:nvPr/>
        </p:nvSpPr>
        <p:spPr>
          <a:xfrm>
            <a:off x="6987540" y="3278605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~0.00067</a:t>
            </a:r>
            <a:endParaRPr sz="1800"/>
          </a:p>
        </p:txBody>
      </p:sp>
      <p:sp>
        <p:nvSpPr>
          <p:cNvPr id="233" name="Google Shape;233;p21"/>
          <p:cNvSpPr/>
          <p:nvPr/>
        </p:nvSpPr>
        <p:spPr>
          <a:xfrm>
            <a:off x="3257550" y="3671800"/>
            <a:ext cx="5334000" cy="420600"/>
          </a:xfrm>
          <a:prstGeom prst="rect">
            <a:avLst/>
          </a:prstGeom>
          <a:solidFill>
            <a:srgbClr val="12223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303270" y="3717516"/>
            <a:ext cx="265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Llama-3.2-3B</a:t>
            </a:r>
            <a:endParaRPr sz="1800"/>
          </a:p>
        </p:txBody>
      </p:sp>
      <p:sp>
        <p:nvSpPr>
          <p:cNvPr id="235" name="Google Shape;235;p21"/>
          <p:cNvSpPr txBox="1"/>
          <p:nvPr/>
        </p:nvSpPr>
        <p:spPr>
          <a:xfrm>
            <a:off x="5379720" y="3717516"/>
            <a:ext cx="15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3 B</a:t>
            </a:r>
            <a:endParaRPr sz="1800"/>
          </a:p>
        </p:txBody>
      </p:sp>
      <p:sp>
        <p:nvSpPr>
          <p:cNvPr id="236" name="Google Shape;236;p21"/>
          <p:cNvSpPr txBox="1"/>
          <p:nvPr/>
        </p:nvSpPr>
        <p:spPr>
          <a:xfrm>
            <a:off x="6987540" y="3717516"/>
            <a:ext cx="228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~0.00020</a:t>
            </a:r>
            <a:endParaRPr sz="1800"/>
          </a:p>
        </p:txBody>
      </p:sp>
      <p:sp>
        <p:nvSpPr>
          <p:cNvPr id="237" name="Google Shape;237;p21"/>
          <p:cNvSpPr txBox="1"/>
          <p:nvPr/>
        </p:nvSpPr>
        <p:spPr>
          <a:xfrm>
            <a:off x="228600" y="4508954"/>
            <a:ext cx="1133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Tasks</a:t>
            </a:r>
            <a:endParaRPr sz="1800"/>
          </a:p>
        </p:txBody>
      </p:sp>
      <p:sp>
        <p:nvSpPr>
          <p:cNvPr id="238" name="Google Shape;238;p21"/>
          <p:cNvSpPr/>
          <p:nvPr/>
        </p:nvSpPr>
        <p:spPr>
          <a:xfrm>
            <a:off x="228600" y="4929574"/>
            <a:ext cx="2194500" cy="969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20040" y="4984442"/>
            <a:ext cx="19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>SST-2</a:t>
            </a:r>
            <a:endParaRPr sz="1800"/>
          </a:p>
        </p:txBody>
      </p:sp>
      <p:sp>
        <p:nvSpPr>
          <p:cNvPr id="240" name="Google Shape;240;p21"/>
          <p:cNvSpPr txBox="1"/>
          <p:nvPr/>
        </p:nvSpPr>
        <p:spPr>
          <a:xfrm>
            <a:off x="320040" y="5277050"/>
            <a:ext cx="19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Binary sentiment</a:t>
            </a:r>
            <a: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novel format</a:t>
            </a:r>
            <a:endParaRPr sz="1800"/>
          </a:p>
        </p:txBody>
      </p:sp>
      <p:sp>
        <p:nvSpPr>
          <p:cNvPr id="241" name="Google Shape;241;p21"/>
          <p:cNvSpPr/>
          <p:nvPr/>
        </p:nvSpPr>
        <p:spPr>
          <a:xfrm>
            <a:off x="2560319" y="4929574"/>
            <a:ext cx="2194500" cy="969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2651760" y="4984442"/>
            <a:ext cx="19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MNLI</a:t>
            </a:r>
            <a:endParaRPr sz="1800"/>
          </a:p>
        </p:txBody>
      </p:sp>
      <p:sp>
        <p:nvSpPr>
          <p:cNvPr id="243" name="Google Shape;243;p21"/>
          <p:cNvSpPr txBox="1"/>
          <p:nvPr/>
        </p:nvSpPr>
        <p:spPr>
          <a:xfrm>
            <a:off x="2651760" y="5277050"/>
            <a:ext cx="19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Textual inference</a:t>
            </a:r>
            <a: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 moderate familiarity</a:t>
            </a:r>
            <a:endParaRPr sz="1800"/>
          </a:p>
        </p:txBody>
      </p:sp>
      <p:sp>
        <p:nvSpPr>
          <p:cNvPr id="244" name="Google Shape;244;p21"/>
          <p:cNvSpPr/>
          <p:nvPr/>
        </p:nvSpPr>
        <p:spPr>
          <a:xfrm>
            <a:off x="4892038" y="4929574"/>
            <a:ext cx="2194500" cy="969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983479" y="4984442"/>
            <a:ext cx="19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C518"/>
                </a:solidFill>
                <a:latin typeface="Calibri"/>
                <a:ea typeface="Calibri"/>
                <a:cs typeface="Calibri"/>
                <a:sym typeface="Calibri"/>
              </a:rPr>
              <a:t>Yahoo</a:t>
            </a:r>
            <a:endParaRPr sz="1800"/>
          </a:p>
        </p:txBody>
      </p:sp>
      <p:sp>
        <p:nvSpPr>
          <p:cNvPr id="246" name="Google Shape;246;p21"/>
          <p:cNvSpPr txBox="1"/>
          <p:nvPr/>
        </p:nvSpPr>
        <p:spPr>
          <a:xfrm>
            <a:off x="4983479" y="5277050"/>
            <a:ext cx="19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Q&amp;A classification</a:t>
            </a:r>
            <a: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</a:t>
            </a:r>
            <a:b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partial overlap</a:t>
            </a:r>
            <a:endParaRPr sz="1800"/>
          </a:p>
        </p:txBody>
      </p:sp>
      <p:sp>
        <p:nvSpPr>
          <p:cNvPr id="247" name="Google Shape;247;p21"/>
          <p:cNvSpPr/>
          <p:nvPr/>
        </p:nvSpPr>
        <p:spPr>
          <a:xfrm>
            <a:off x="7223756" y="4929574"/>
            <a:ext cx="2194500" cy="969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7315199" y="4984442"/>
            <a:ext cx="19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DBPedia</a:t>
            </a:r>
            <a:endParaRPr sz="1800"/>
          </a:p>
        </p:txBody>
      </p:sp>
      <p:sp>
        <p:nvSpPr>
          <p:cNvPr id="249" name="Google Shape;249;p21"/>
          <p:cNvSpPr txBox="1"/>
          <p:nvPr/>
        </p:nvSpPr>
        <p:spPr>
          <a:xfrm>
            <a:off x="7315199" y="5277050"/>
            <a:ext cx="19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Entity classification</a:t>
            </a:r>
            <a: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 encyclopedic</a:t>
            </a:r>
            <a:endParaRPr sz="1800"/>
          </a:p>
        </p:txBody>
      </p:sp>
      <p:sp>
        <p:nvSpPr>
          <p:cNvPr id="250" name="Google Shape;250;p21"/>
          <p:cNvSpPr/>
          <p:nvPr/>
        </p:nvSpPr>
        <p:spPr>
          <a:xfrm>
            <a:off x="9555476" y="4929574"/>
            <a:ext cx="2194500" cy="969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9646919" y="4984442"/>
            <a:ext cx="199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AG News</a:t>
            </a:r>
            <a:endParaRPr sz="1800"/>
          </a:p>
        </p:txBody>
      </p:sp>
      <p:sp>
        <p:nvSpPr>
          <p:cNvPr id="252" name="Google Shape;252;p21"/>
          <p:cNvSpPr txBox="1"/>
          <p:nvPr/>
        </p:nvSpPr>
        <p:spPr>
          <a:xfrm>
            <a:off x="9646919" y="5277050"/>
            <a:ext cx="199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News classification </a:t>
            </a:r>
            <a:r>
              <a:rPr lang="en-US" sz="13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13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 WebText familiar</a:t>
            </a:r>
            <a:endParaRPr sz="1800"/>
          </a:p>
        </p:txBody>
      </p:sp>
      <p:sp>
        <p:nvSpPr>
          <p:cNvPr id="253" name="Google Shape;253;p21"/>
          <p:cNvSpPr txBox="1"/>
          <p:nvPr/>
        </p:nvSpPr>
        <p:spPr>
          <a:xfrm>
            <a:off x="228600" y="5966878"/>
            <a:ext cx="1133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LoRA rank = 8 (primary)  ·  500 steps per condition  ·  eval on WikiText-2 NLL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H1  ·  Why These Tasks? Controlling for Pretraining Familiarity</a:t>
            </a:r>
            <a:endParaRPr/>
          </a:p>
        </p:txBody>
      </p:sp>
      <p:cxnSp>
        <p:nvCxnSpPr>
          <p:cNvPr id="260" name="Google Shape;260;p22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1" name="Google Shape;261;p22"/>
          <p:cNvSpPr/>
          <p:nvPr/>
        </p:nvSpPr>
        <p:spPr>
          <a:xfrm>
            <a:off x="256025" y="3913626"/>
            <a:ext cx="5577900" cy="23130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 txBox="1"/>
          <p:nvPr/>
        </p:nvSpPr>
        <p:spPr>
          <a:xfrm>
            <a:off x="420624" y="3968496"/>
            <a:ext cx="521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Familiar tasks (AG News, DBPedia)</a:t>
            </a:r>
            <a:endParaRPr sz="2000"/>
          </a:p>
        </p:txBody>
      </p:sp>
      <p:sp>
        <p:nvSpPr>
          <p:cNvPr id="263" name="Google Shape;263;p22"/>
          <p:cNvSpPr txBox="1"/>
          <p:nvPr/>
        </p:nvSpPr>
        <p:spPr>
          <a:xfrm>
            <a:off x="420624" y="4389120"/>
            <a:ext cx="52122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 was pretrained on WebText</a:t>
            </a:r>
            <a:r>
              <a:rPr lang="en-US" sz="17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br>
              <a:rPr lang="en-US" sz="17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news and encyclopedic text is </a:t>
            </a:r>
            <a:r>
              <a:rPr i="1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heavily</a:t>
            </a: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represented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Model needs only tiny parameter movement to classify these → R stays small even at high LR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Risk: if we only used familiar tasks, R≈1 might hold trivially and mean nothing</a:t>
            </a:r>
            <a:endParaRPr sz="1900"/>
          </a:p>
        </p:txBody>
      </p:sp>
      <p:sp>
        <p:nvSpPr>
          <p:cNvPr id="264" name="Google Shape;264;p22"/>
          <p:cNvSpPr/>
          <p:nvPr/>
        </p:nvSpPr>
        <p:spPr>
          <a:xfrm>
            <a:off x="6016754" y="3913626"/>
            <a:ext cx="5925300" cy="23130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6181344" y="3968496"/>
            <a:ext cx="557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94F37"/>
                </a:solidFill>
                <a:latin typeface="Calibri"/>
                <a:ea typeface="Calibri"/>
                <a:cs typeface="Calibri"/>
                <a:sym typeface="Calibri"/>
              </a:rPr>
              <a:t>Novel tasks (SST-2, MNLI)</a:t>
            </a:r>
            <a:endParaRPr sz="2000"/>
          </a:p>
        </p:txBody>
      </p:sp>
      <p:sp>
        <p:nvSpPr>
          <p:cNvPr id="266" name="Google Shape;266;p22"/>
          <p:cNvSpPr txBox="1"/>
          <p:nvPr/>
        </p:nvSpPr>
        <p:spPr>
          <a:xfrm>
            <a:off x="6181344" y="4389120"/>
            <a:ext cx="5577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Short-form sentiment and textual inference are </a:t>
            </a:r>
            <a:r>
              <a:rPr i="1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dominant patterns in WebText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Model must learn a genuinely new signal 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large parameter movement required → R grows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Including these tests whether R≈1 holds even when the model has to move far</a:t>
            </a:r>
            <a:endParaRPr sz="1900"/>
          </a:p>
        </p:txBody>
      </p:sp>
      <p:sp>
        <p:nvSpPr>
          <p:cNvPr id="267" name="Google Shape;267;p22"/>
          <p:cNvSpPr txBox="1"/>
          <p:nvPr/>
        </p:nvSpPr>
        <p:spPr>
          <a:xfrm>
            <a:off x="228600" y="6355080"/>
            <a:ext cx="1175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Both extremes are required — without novel tasks, universality claim is untestable</a:t>
            </a:r>
            <a:endParaRPr sz="2000"/>
          </a:p>
        </p:txBody>
      </p:sp>
      <p:pic>
        <p:nvPicPr>
          <p:cNvPr id="268" name="Google Shape;268;p22" title="fig_task_familiarity.png"/>
          <p:cNvPicPr preferRelativeResize="0"/>
          <p:nvPr/>
        </p:nvPicPr>
        <p:blipFill rotWithShape="1">
          <a:blip r:embed="rId3">
            <a:alphaModFix/>
          </a:blip>
          <a:srcRect b="0" l="0" r="0" t="12572"/>
          <a:stretch/>
        </p:blipFill>
        <p:spPr>
          <a:xfrm>
            <a:off x="1520625" y="1186625"/>
            <a:ext cx="9166051" cy="263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H1  ·  Why These LRs and Models?</a:t>
            </a:r>
            <a:endParaRPr/>
          </a:p>
        </p:txBody>
      </p:sp>
      <p:cxnSp>
        <p:nvCxnSpPr>
          <p:cNvPr id="275" name="Google Shape;275;p23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pic>
        <p:nvPicPr>
          <p:cNvPr descr="fig_lr_spectrum.png" id="276" name="Google Shape;27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363" y="1179575"/>
            <a:ext cx="11148223" cy="23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3"/>
          <p:cNvSpPr/>
          <p:nvPr/>
        </p:nvSpPr>
        <p:spPr>
          <a:xfrm>
            <a:off x="256032" y="3657600"/>
            <a:ext cx="5577840" cy="2962656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420624" y="3712463"/>
            <a:ext cx="521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Learning rates: span both sides of R = 1</a:t>
            </a:r>
            <a:endParaRPr sz="2000"/>
          </a:p>
        </p:txBody>
      </p:sp>
      <p:sp>
        <p:nvSpPr>
          <p:cNvPr id="279" name="Google Shape;279;p23"/>
          <p:cNvSpPr txBox="1"/>
          <p:nvPr/>
        </p:nvSpPr>
        <p:spPr>
          <a:xfrm>
            <a:off x="420624" y="4099069"/>
            <a:ext cx="52122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lr = 1e-5 → R ≪ 1: 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the safe control condition (model barely moves)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lr = 1e-4 / 2e-4 → R ≈ 0.4–0.9: 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expected neighbourhood of the boundary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lr = 5e-4 / 1e-3 → R &gt; 1: 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deliberate overshoot — confirms degradation side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</a:t>
            </a: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Without overshooting the boundary we cannot verify that σ½ predicts failure</a:t>
            </a:r>
            <a:endParaRPr sz="1900"/>
          </a:p>
        </p:txBody>
      </p:sp>
      <p:sp>
        <p:nvSpPr>
          <p:cNvPr id="280" name="Google Shape;280;p23"/>
          <p:cNvSpPr/>
          <p:nvPr/>
        </p:nvSpPr>
        <p:spPr>
          <a:xfrm>
            <a:off x="6016752" y="3657600"/>
            <a:ext cx="5925312" cy="2962656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6181344" y="3712463"/>
            <a:ext cx="5577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Models: architecture + scale diversity</a:t>
            </a:r>
            <a:endParaRPr sz="2000"/>
          </a:p>
        </p:txBody>
      </p:sp>
      <p:sp>
        <p:nvSpPr>
          <p:cNvPr id="282" name="Google Shape;282;p23"/>
          <p:cNvSpPr txBox="1"/>
          <p:nvPr/>
        </p:nvSpPr>
        <p:spPr>
          <a:xfrm>
            <a:off x="6181344" y="4099069"/>
            <a:ext cx="55779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GPT-2 family (124M → 1.5B)</a:t>
            </a:r>
            <a:r>
              <a:rPr lang="en-US" sz="17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: </a:t>
            </a: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isolates size effect</a:t>
            </a:r>
            <a:endParaRPr sz="1900"/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700"/>
              <a:buFont typeface="Calibri"/>
              <a:buChar char="●"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Llama-3.2-3B: </a:t>
            </a:r>
            <a:b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different architecture AND training recipe (RLHF, instruction tuning)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</a:t>
            </a: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Without Llama, 'universal' only means 'works for GPT-2 decoder-only stack'</a:t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228600" y="73152"/>
            <a:ext cx="114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H2  ·  Forgetting Budget</a:t>
            </a:r>
            <a:endParaRPr sz="2000"/>
          </a:p>
        </p:txBody>
      </p:sp>
      <p:sp>
        <p:nvSpPr>
          <p:cNvPr id="289" name="Google Shape;289;p24"/>
          <p:cNvSpPr txBox="1"/>
          <p:nvPr/>
        </p:nvSpPr>
        <p:spPr>
          <a:xfrm>
            <a:off x="228600" y="512064"/>
            <a:ext cx="11430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The certified ball of θ_A </a:t>
            </a:r>
            <a:r>
              <a:rPr b="1" lang="en-US" sz="26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to</a:t>
            </a:r>
            <a:br>
              <a:rPr b="1" i="0" lang="en-US" sz="2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 forgetting budget for Task B training</a:t>
            </a:r>
            <a:endParaRPr/>
          </a:p>
        </p:txBody>
      </p:sp>
      <p:cxnSp>
        <p:nvCxnSpPr>
          <p:cNvPr id="290" name="Google Shape;290;p24"/>
          <p:cNvCxnSpPr/>
          <p:nvPr/>
        </p:nvCxnSpPr>
        <p:spPr>
          <a:xfrm>
            <a:off x="228600" y="1389888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1" name="Google Shape;291;p24"/>
          <p:cNvSpPr/>
          <p:nvPr/>
        </p:nvSpPr>
        <p:spPr>
          <a:xfrm>
            <a:off x="228600" y="1716184"/>
            <a:ext cx="11750100" cy="1225200"/>
          </a:xfrm>
          <a:prstGeom prst="rect">
            <a:avLst/>
          </a:prstGeom>
          <a:solidFill>
            <a:srgbClr val="0E3D30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411480" y="1844200"/>
            <a:ext cx="11338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R_A = ‖θ_B − θ_A‖ / σ½_A  &gt;  1   predicts Task A forgetting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11480" y="2301399"/>
            <a:ext cx="1133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Whenever Phase 2 weights exit the certified ball around θ_A, Task A accuracy drops</a:t>
            </a:r>
            <a:endParaRPr sz="1900"/>
          </a:p>
        </p:txBody>
      </p:sp>
      <p:sp>
        <p:nvSpPr>
          <p:cNvPr id="294" name="Google Shape;294;p24"/>
          <p:cNvSpPr txBox="1"/>
          <p:nvPr/>
        </p:nvSpPr>
        <p:spPr>
          <a:xfrm>
            <a:off x="228600" y="3124360"/>
            <a:ext cx="1175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Continual learning: R_A = 1 is a hard budget — train on Task B until this, then stop</a:t>
            </a:r>
            <a:endParaRPr sz="1900"/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RLHF analogy: σ½_SFT is the weight-space KL penalty radius — bounds safe RLHF movement</a:t>
            </a:r>
            <a:endParaRPr sz="1900"/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20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Practical: compute σ½_A once, then predict forgetting without running Phase 2</a:t>
            </a:r>
            <a:endParaRPr sz="1900"/>
          </a:p>
        </p:txBody>
      </p:sp>
      <p:sp>
        <p:nvSpPr>
          <p:cNvPr id="295" name="Google Shape;295;p24"/>
          <p:cNvSpPr/>
          <p:nvPr/>
        </p:nvSpPr>
        <p:spPr>
          <a:xfrm>
            <a:off x="228600" y="4733464"/>
            <a:ext cx="11750100" cy="15546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411480" y="4831623"/>
            <a:ext cx="36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Extending</a:t>
            </a:r>
            <a:r>
              <a:rPr b="1" i="0" lang="en-US" sz="20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 xml:space="preserve"> claim</a:t>
            </a:r>
            <a:endParaRPr sz="2100"/>
          </a:p>
        </p:txBody>
      </p:sp>
      <p:sp>
        <p:nvSpPr>
          <p:cNvPr id="297" name="Google Shape;297;p24"/>
          <p:cNvSpPr txBox="1"/>
          <p:nvPr/>
        </p:nvSpPr>
        <p:spPr>
          <a:xfrm>
            <a:off x="411480" y="5215671"/>
            <a:ext cx="1133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Forgetting curve F(t) aligns across model sizes, task pairs, and LRs when plotted vs R_A(t)</a:t>
            </a:r>
            <a:endParaRPr sz="1900"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800"/>
              <a:buFont typeface="Calibri"/>
              <a:buChar char="●"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The transition at R_A = 1 is sharp — a step function, not a gradual drift</a:t>
            </a:r>
            <a:endParaRPr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H2 — Visualised: weight-space trajectory and Task A accuracy</a:t>
            </a:r>
            <a:endParaRPr/>
          </a:p>
        </p:txBody>
      </p:sp>
      <p:cxnSp>
        <p:nvCxnSpPr>
          <p:cNvPr id="304" name="Google Shape;304;p25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5" name="Google Shape;305;p25"/>
          <p:cNvSpPr txBox="1"/>
          <p:nvPr/>
        </p:nvSpPr>
        <p:spPr>
          <a:xfrm>
            <a:off x="228600" y="6355080"/>
            <a:ext cx="11750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Left: Phase 2 trajectory in weight space — low LR stays inside σ½_A ball, high LR exits. Right: predicted Task A accuracy vs R_A — drop at R_A = 1.</a:t>
            </a:r>
            <a:endParaRPr sz="1600"/>
          </a:p>
        </p:txBody>
      </p:sp>
      <p:pic>
        <p:nvPicPr>
          <p:cNvPr id="306" name="Google Shape;306;p25" title="fig_h2_sequenti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250" y="1399050"/>
            <a:ext cx="11362744" cy="4904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H2  ·  Task Pair Design — Two Requirements in Tension</a:t>
            </a:r>
            <a:endParaRPr/>
          </a:p>
        </p:txBody>
      </p:sp>
      <p:cxnSp>
        <p:nvCxnSpPr>
          <p:cNvPr id="313" name="Google Shape;313;p26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4" name="Google Shape;314;p26"/>
          <p:cNvSpPr/>
          <p:nvPr/>
        </p:nvSpPr>
        <p:spPr>
          <a:xfrm>
            <a:off x="228600" y="1170432"/>
            <a:ext cx="5577840" cy="5029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228600" y="1170432"/>
            <a:ext cx="5577840" cy="438912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384048" y="1207008"/>
            <a:ext cx="530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A  —  must converge cleanly</a:t>
            </a:r>
            <a:endParaRPr sz="2100"/>
          </a:p>
        </p:txBody>
      </p:sp>
      <p:sp>
        <p:nvSpPr>
          <p:cNvPr id="317" name="Google Shape;317;p26"/>
          <p:cNvSpPr txBox="1"/>
          <p:nvPr/>
        </p:nvSpPr>
        <p:spPr>
          <a:xfrm>
            <a:off x="384048" y="1700784"/>
            <a:ext cx="52578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If Task A never converges, σ½_A reflects a pretrained (not fine-tuned) basin </a:t>
            </a:r>
            <a:endParaRPr sz="1900">
              <a:solidFill>
                <a:srgbClr val="F5F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→ </a:t>
            </a: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H2 formula becomes meaningless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Choose a familiar task: AG News for GPT-2 (WebText = news text) → model reaches &gt;80 % accuracy at lr = 1e-4 in 2000 steps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Convergence guard: raise an error if Phase 1 accuracy &lt; 70 %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 σ½_A is measured on the FINE-TUNED θ_A (not pretrained) — it reflects the Task A optimum basin</a:t>
            </a:r>
            <a:endParaRPr sz="2100"/>
          </a:p>
        </p:txBody>
      </p:sp>
      <p:sp>
        <p:nvSpPr>
          <p:cNvPr id="318" name="Google Shape;318;p26"/>
          <p:cNvSpPr/>
          <p:nvPr/>
        </p:nvSpPr>
        <p:spPr>
          <a:xfrm>
            <a:off x="6035040" y="1170432"/>
            <a:ext cx="5925312" cy="5029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6035040" y="1170432"/>
            <a:ext cx="5925312" cy="438912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6"/>
          <p:cNvSpPr txBox="1"/>
          <p:nvPr/>
        </p:nvSpPr>
        <p:spPr>
          <a:xfrm>
            <a:off x="6199632" y="1207008"/>
            <a:ext cx="55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Task B  —  must require real parameter movement</a:t>
            </a:r>
            <a:endParaRPr sz="2100"/>
          </a:p>
        </p:txBody>
      </p:sp>
      <p:sp>
        <p:nvSpPr>
          <p:cNvPr id="321" name="Google Shape;321;p26"/>
          <p:cNvSpPr txBox="1"/>
          <p:nvPr/>
        </p:nvSpPr>
        <p:spPr>
          <a:xfrm>
            <a:off x="6199632" y="1700784"/>
            <a:ext cx="5651100" cy="42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If Task B is also familiar (e.g. another news dataset), R_A stays tiny throughout Phase 2 → no forgetting → H2 is untestable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Choose a novel task: SST-2 for GPT-2 (short-form sentiment ≠ WebText distribution) → model must move θ significantly to learn it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This ensures R_A grows across the LR range 1e-5 → 2e-4, giving data both inside and outside the ball</a:t>
            </a:r>
            <a:b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F5F5"/>
              </a:buClr>
              <a:buSzPts val="1900"/>
              <a:buFont typeface="Calibri"/>
              <a:buChar char="●"/>
            </a:pPr>
            <a:r>
              <a:rPr b="0" i="0" lang="en-US" sz="19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Reverse for Llama-3B (SST-2 → AG News): tests whether task direction matters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H2  ·  Why These LRs, Steps, and Ranks?</a:t>
            </a:r>
            <a:endParaRPr/>
          </a:p>
        </p:txBody>
      </p:sp>
      <p:cxnSp>
        <p:nvCxnSpPr>
          <p:cNvPr id="328" name="Google Shape;328;p27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29" name="Google Shape;329;p27"/>
          <p:cNvSpPr/>
          <p:nvPr/>
        </p:nvSpPr>
        <p:spPr>
          <a:xfrm>
            <a:off x="228600" y="1170425"/>
            <a:ext cx="11750100" cy="1614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28600" y="1170432"/>
            <a:ext cx="11750040" cy="420624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356616" y="1225296"/>
            <a:ext cx="115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 —  lr_a = 1e-4, 2000 steps</a:t>
            </a:r>
            <a:endParaRPr sz="1900"/>
          </a:p>
        </p:txBody>
      </p:sp>
      <p:sp>
        <p:nvSpPr>
          <p:cNvPr id="332" name="Google Shape;332;p27"/>
          <p:cNvSpPr txBox="1"/>
          <p:nvPr/>
        </p:nvSpPr>
        <p:spPr>
          <a:xfrm>
            <a:off x="356616" y="1646553"/>
            <a:ext cx="11548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lr = 1e-5 does NOT converge on AG News in 2000 steps — σ½_A stays pretrained-like and inflates R_A to nonsense values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lr = 1e-4 produces ~4× basin widening on GPT-2 (verified in lora_density_experiment) — gives a well-characterised σ½_A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2000 steps: enough for &gt;80 % accuracy on AG News with rank = 8  (confirmed empirically)</a:t>
            </a:r>
            <a:endParaRPr sz="1900"/>
          </a:p>
        </p:txBody>
      </p:sp>
      <p:sp>
        <p:nvSpPr>
          <p:cNvPr id="333" name="Google Shape;333;p27"/>
          <p:cNvSpPr/>
          <p:nvPr/>
        </p:nvSpPr>
        <p:spPr>
          <a:xfrm>
            <a:off x="228600" y="2905006"/>
            <a:ext cx="11750100" cy="1614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228600" y="2901563"/>
            <a:ext cx="11750100" cy="4206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356616" y="2956427"/>
            <a:ext cx="115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 —  three LRs, each targeting a different R_A regime</a:t>
            </a:r>
            <a:endParaRPr sz="1900"/>
          </a:p>
        </p:txBody>
      </p:sp>
      <p:sp>
        <p:nvSpPr>
          <p:cNvPr id="336" name="Google Shape;336;p27"/>
          <p:cNvSpPr txBox="1"/>
          <p:nvPr/>
        </p:nvSpPr>
        <p:spPr>
          <a:xfrm>
            <a:off x="356616" y="3421754"/>
            <a:ext cx="11548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lr = 1e-5  →  R_A stays &lt; 1 throughout 2000 steps  →  control: Task A should be preserved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lr = 1e-4  →  R_A crosses 1 around step 800–1000  →  tests the transition; sharpest signal for H2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lr = 2e-4  →  R_A &gt; 1 early  →  confirms the failure side; large forgetting expected</a:t>
            </a:r>
            <a:endParaRPr sz="1900"/>
          </a:p>
        </p:txBody>
      </p:sp>
      <p:sp>
        <p:nvSpPr>
          <p:cNvPr id="337" name="Google Shape;337;p27"/>
          <p:cNvSpPr/>
          <p:nvPr/>
        </p:nvSpPr>
        <p:spPr>
          <a:xfrm>
            <a:off x="228600" y="4639587"/>
            <a:ext cx="11750100" cy="16143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228600" y="4629992"/>
            <a:ext cx="11750100" cy="420600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356616" y="4684856"/>
            <a:ext cx="11548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Ranks 8 and 32 — why both?</a:t>
            </a:r>
            <a:endParaRPr sz="1900"/>
          </a:p>
        </p:txBody>
      </p:sp>
      <p:sp>
        <p:nvSpPr>
          <p:cNvPr id="340" name="Google Shape;340;p27"/>
          <p:cNvSpPr txBox="1"/>
          <p:nvPr/>
        </p:nvSpPr>
        <p:spPr>
          <a:xfrm>
            <a:off x="356616" y="5178983"/>
            <a:ext cx="11548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rank = 32 moves faster in norm for the same LR (more directions updated per step)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So at rank 32, R_A &gt; 1 is reached at a lower LR — stress-tests whether rank shifts the boundary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the boundary moves with rank: the ball is not isotropic in LoRA-update space — important nuance</a:t>
            </a:r>
            <a:endParaRPr sz="1900"/>
          </a:p>
        </p:txBody>
      </p:sp>
      <p:sp>
        <p:nvSpPr>
          <p:cNvPr id="341" name="Google Shape;341;p27"/>
          <p:cNvSpPr txBox="1"/>
          <p:nvPr/>
        </p:nvSpPr>
        <p:spPr>
          <a:xfrm>
            <a:off x="228600" y="6355080"/>
            <a:ext cx="11750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50-step eval cadence during Phase 2: fine enough to catch the R_A = 1 crossing without excessive compute</a:t>
            </a:r>
            <a:endParaRPr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228600" y="73152"/>
            <a:ext cx="1143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H3  ·  Model Merging</a:t>
            </a:r>
            <a:endParaRPr sz="2000"/>
          </a:p>
        </p:txBody>
      </p:sp>
      <p:sp>
        <p:nvSpPr>
          <p:cNvPr id="348" name="Google Shape;348;p28"/>
          <p:cNvSpPr txBox="1"/>
          <p:nvPr/>
        </p:nvSpPr>
        <p:spPr>
          <a:xfrm>
            <a:off x="228600" y="493776"/>
            <a:ext cx="11430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If the certified balls overlap, the midpoint is safe</a:t>
            </a:r>
            <a:endParaRPr/>
          </a:p>
        </p:txBody>
      </p:sp>
      <p:cxnSp>
        <p:nvCxnSpPr>
          <p:cNvPr id="349" name="Google Shape;349;p28"/>
          <p:cNvCxnSpPr/>
          <p:nvPr/>
        </p:nvCxnSpPr>
        <p:spPr>
          <a:xfrm>
            <a:off x="228600" y="1188720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0" name="Google Shape;350;p28"/>
          <p:cNvSpPr/>
          <p:nvPr/>
        </p:nvSpPr>
        <p:spPr>
          <a:xfrm>
            <a:off x="228600" y="1298448"/>
            <a:ext cx="11750040" cy="877824"/>
          </a:xfrm>
          <a:prstGeom prst="rect">
            <a:avLst/>
          </a:prstGeom>
          <a:solidFill>
            <a:srgbClr val="2A1250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 txBox="1"/>
          <p:nvPr/>
        </p:nvSpPr>
        <p:spPr>
          <a:xfrm>
            <a:off x="411480" y="1417320"/>
            <a:ext cx="11338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d(θ_A, θ_B) &lt; σ½_A + σ½_B   →   merging θ_A and θ_B preserves both tasks</a:t>
            </a:r>
            <a:endParaRPr/>
          </a:p>
        </p:txBody>
      </p:sp>
      <p:sp>
        <p:nvSpPr>
          <p:cNvPr id="352" name="Google Shape;352;p28"/>
          <p:cNvSpPr txBox="1"/>
          <p:nvPr/>
        </p:nvSpPr>
        <p:spPr>
          <a:xfrm>
            <a:off x="411480" y="1843225"/>
            <a:ext cx="1133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Geometric sufficient condition: if both models lie inside each other's certified ball, their midpoint does too</a:t>
            </a:r>
            <a:endParaRPr sz="1900"/>
          </a:p>
        </p:txBody>
      </p:sp>
      <p:pic>
        <p:nvPicPr>
          <p:cNvPr id="353" name="Google Shape;353;p28" title="fig_h3_overlap.png"/>
          <p:cNvPicPr preferRelativeResize="0"/>
          <p:nvPr/>
        </p:nvPicPr>
        <p:blipFill rotWithShape="1">
          <a:blip r:embed="rId3">
            <a:alphaModFix/>
          </a:blip>
          <a:srcRect b="0" l="7610" r="3382" t="0"/>
          <a:stretch/>
        </p:blipFill>
        <p:spPr>
          <a:xfrm>
            <a:off x="411475" y="2489826"/>
            <a:ext cx="7401627" cy="349824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8"/>
          <p:cNvSpPr/>
          <p:nvPr/>
        </p:nvSpPr>
        <p:spPr>
          <a:xfrm>
            <a:off x="7936992" y="2267712"/>
            <a:ext cx="4023360" cy="429768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 txBox="1"/>
          <p:nvPr/>
        </p:nvSpPr>
        <p:spPr>
          <a:xfrm>
            <a:off x="8101583" y="2322576"/>
            <a:ext cx="374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Why this is novel</a:t>
            </a:r>
            <a:endParaRPr sz="1900"/>
          </a:p>
        </p:txBody>
      </p:sp>
      <p:sp>
        <p:nvSpPr>
          <p:cNvPr id="356" name="Google Shape;356;p28"/>
          <p:cNvSpPr txBox="1"/>
          <p:nvPr/>
        </p:nvSpPr>
        <p:spPr>
          <a:xfrm>
            <a:off x="8101583" y="2706624"/>
            <a:ext cx="3767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All prior merge methods (TIES, DARE, task arithmetic) are empirical — no geometric certificate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H3 predicts success BEFORE running the merge — from σ½_A, σ½_B, and ‖θ_A − θ_B‖ alone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H1 holds, keeping ‖Δθ_A‖ &lt; σ½ during training guarantees d &lt; σ½_A + σ½_B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The certificate is conservative: gap &gt; 0 is sufficient, not necessary</a:t>
            </a:r>
            <a:endParaRPr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 ·  Why These Tasks, Model, and Merge Method?</a:t>
            </a:r>
            <a:endParaRPr/>
          </a:p>
        </p:txBody>
      </p:sp>
      <p:cxnSp>
        <p:nvCxnSpPr>
          <p:cNvPr id="363" name="Google Shape;363;p29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4" name="Google Shape;364;p29"/>
          <p:cNvSpPr/>
          <p:nvPr/>
        </p:nvSpPr>
        <p:spPr>
          <a:xfrm>
            <a:off x="228600" y="1170432"/>
            <a:ext cx="3794760" cy="5029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/>
          <p:nvPr/>
        </p:nvSpPr>
        <p:spPr>
          <a:xfrm>
            <a:off x="228600" y="1170432"/>
            <a:ext cx="3794760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9"/>
          <p:cNvSpPr txBox="1"/>
          <p:nvPr/>
        </p:nvSpPr>
        <p:spPr>
          <a:xfrm>
            <a:off x="356616" y="1203145"/>
            <a:ext cx="359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GPT-2-medium?</a:t>
            </a:r>
            <a:endParaRPr sz="2100"/>
          </a:p>
        </p:txBody>
      </p:sp>
      <p:sp>
        <p:nvSpPr>
          <p:cNvPr id="367" name="Google Shape;367;p29"/>
          <p:cNvSpPr txBox="1"/>
          <p:nvPr/>
        </p:nvSpPr>
        <p:spPr>
          <a:xfrm>
            <a:off x="356616" y="1682496"/>
            <a:ext cx="35937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GPT-2 (124M) is capacity-limited — multi-task performance saturates at low accuracy, masking the merge signal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GPT-2-medium (354M) has enough capacity to hold two tasks simultaneously — we can actually measure success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σ½_pre ≈ 0.00081 already characterised from H1; baseline well-established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Cheap enough to run 9 (LR_A, LR_B) conditions + merge evals in one A40 session</a:t>
            </a:r>
            <a:endParaRPr sz="2000"/>
          </a:p>
        </p:txBody>
      </p:sp>
      <p:sp>
        <p:nvSpPr>
          <p:cNvPr id="368" name="Google Shape;368;p29"/>
          <p:cNvSpPr/>
          <p:nvPr/>
        </p:nvSpPr>
        <p:spPr>
          <a:xfrm>
            <a:off x="4187952" y="1170432"/>
            <a:ext cx="3794760" cy="5029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4187952" y="1170432"/>
            <a:ext cx="3794760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 txBox="1"/>
          <p:nvPr/>
        </p:nvSpPr>
        <p:spPr>
          <a:xfrm>
            <a:off x="4315968" y="1203145"/>
            <a:ext cx="359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AG News + SST-2?</a:t>
            </a:r>
            <a:endParaRPr sz="2100"/>
          </a:p>
        </p:txBody>
      </p:sp>
      <p:sp>
        <p:nvSpPr>
          <p:cNvPr id="371" name="Google Shape;371;p29"/>
          <p:cNvSpPr txBox="1"/>
          <p:nvPr/>
        </p:nvSpPr>
        <p:spPr>
          <a:xfrm>
            <a:off x="4315968" y="1682496"/>
            <a:ext cx="35937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Different label spaces (4-class vs binary) + different text formats → genuinely conflicting weight updates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AG News is familiar → θ_A stays close to θ_pre → σ½_A stays large → easier for condition to be satisfied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SST-2 is novel → θ_B must move further → harder to satisfy condition → tests the boundary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both tasks were familiar, d would always be small → certificate always satisfied → H3 untestable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A 'boring' pair never produces failures — we NEED gap &lt; 0 cells to falsify H3</a:t>
            </a:r>
            <a:endParaRPr sz="2000"/>
          </a:p>
        </p:txBody>
      </p:sp>
      <p:sp>
        <p:nvSpPr>
          <p:cNvPr id="372" name="Google Shape;372;p29"/>
          <p:cNvSpPr/>
          <p:nvPr/>
        </p:nvSpPr>
        <p:spPr>
          <a:xfrm>
            <a:off x="8147304" y="1170432"/>
            <a:ext cx="3813048" cy="5029200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8147304" y="1170432"/>
            <a:ext cx="3813048" cy="420624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8275320" y="1203145"/>
            <a:ext cx="3612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simple averaging?</a:t>
            </a:r>
            <a:endParaRPr sz="2100"/>
          </a:p>
        </p:txBody>
      </p:sp>
      <p:sp>
        <p:nvSpPr>
          <p:cNvPr id="375" name="Google Shape;375;p29"/>
          <p:cNvSpPr txBox="1"/>
          <p:nvPr/>
        </p:nvSpPr>
        <p:spPr>
          <a:xfrm>
            <a:off x="8275320" y="1682496"/>
            <a:ext cx="36120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θ_merge = (θ_A + θ_B) / 2 is the midpoint in weight space — exactly what the ball-overlap condition predicts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the condition works for the simplest merge method, it is the strongest claim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Exotic methods (TIES, DARE) re-weight parameters in ways that obscure the geometry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simple averaging FAILS where gap &gt; 0, H3 is cleanly falsified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→  If simple averaging SUCCEEDS where gap &gt; 0, H3 is confirmed by the most skeptical test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0"/>
          <p:cNvSpPr txBox="1"/>
          <p:nvPr/>
        </p:nvSpPr>
        <p:spPr>
          <a:xfrm>
            <a:off x="228600" y="91440"/>
            <a:ext cx="11750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 ·  The 3×3 LR Grid — Tracing the Merge Boundary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228600" y="658368"/>
            <a:ext cx="11750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We need cells where the certificate is satisfied AND violated — otherwise we cannot falsify H3</a:t>
            </a:r>
            <a:endParaRPr sz="1700"/>
          </a:p>
        </p:txBody>
      </p:sp>
      <p:cxnSp>
        <p:nvCxnSpPr>
          <p:cNvPr id="383" name="Google Shape;383;p30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4" name="Google Shape;384;p30"/>
          <p:cNvSpPr/>
          <p:nvPr/>
        </p:nvSpPr>
        <p:spPr>
          <a:xfrm>
            <a:off x="1417320" y="1093617"/>
            <a:ext cx="10241400" cy="384000"/>
          </a:xfrm>
          <a:prstGeom prst="rect">
            <a:avLst/>
          </a:prstGeom>
          <a:solidFill>
            <a:srgbClr val="2A1250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 txBox="1"/>
          <p:nvPr/>
        </p:nvSpPr>
        <p:spPr>
          <a:xfrm>
            <a:off x="1508760" y="1111905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lr_B = 1e-5</a:t>
            </a:r>
            <a:endParaRPr sz="2000"/>
          </a:p>
        </p:txBody>
      </p:sp>
      <p:sp>
        <p:nvSpPr>
          <p:cNvPr id="386" name="Google Shape;386;p30"/>
          <p:cNvSpPr txBox="1"/>
          <p:nvPr/>
        </p:nvSpPr>
        <p:spPr>
          <a:xfrm>
            <a:off x="4892040" y="1111905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lr_B = 1e-4</a:t>
            </a:r>
            <a:endParaRPr sz="2000"/>
          </a:p>
        </p:txBody>
      </p:sp>
      <p:sp>
        <p:nvSpPr>
          <p:cNvPr id="387" name="Google Shape;387;p30"/>
          <p:cNvSpPr txBox="1"/>
          <p:nvPr/>
        </p:nvSpPr>
        <p:spPr>
          <a:xfrm>
            <a:off x="8275320" y="1111905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lr_B = 2e-4</a:t>
            </a:r>
            <a:endParaRPr sz="2000"/>
          </a:p>
        </p:txBody>
      </p:sp>
      <p:sp>
        <p:nvSpPr>
          <p:cNvPr id="388" name="Google Shape;388;p30"/>
          <p:cNvSpPr txBox="1"/>
          <p:nvPr/>
        </p:nvSpPr>
        <p:spPr>
          <a:xfrm>
            <a:off x="91440" y="2048256"/>
            <a:ext cx="129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lr_A = 1e-5</a:t>
            </a:r>
            <a:endParaRPr sz="2000"/>
          </a:p>
        </p:txBody>
      </p:sp>
      <p:sp>
        <p:nvSpPr>
          <p:cNvPr id="389" name="Google Shape;389;p30"/>
          <p:cNvSpPr txBox="1"/>
          <p:nvPr/>
        </p:nvSpPr>
        <p:spPr>
          <a:xfrm>
            <a:off x="91440" y="3621024"/>
            <a:ext cx="129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lr_A = 1e-4</a:t>
            </a:r>
            <a:endParaRPr sz="2000"/>
          </a:p>
        </p:txBody>
      </p:sp>
      <p:sp>
        <p:nvSpPr>
          <p:cNvPr id="390" name="Google Shape;390;p30"/>
          <p:cNvSpPr txBox="1"/>
          <p:nvPr/>
        </p:nvSpPr>
        <p:spPr>
          <a:xfrm>
            <a:off x="91440" y="5193792"/>
            <a:ext cx="1298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lr_A = 2e-4</a:t>
            </a:r>
            <a:endParaRPr sz="2000"/>
          </a:p>
        </p:txBody>
      </p:sp>
      <p:sp>
        <p:nvSpPr>
          <p:cNvPr id="391" name="Google Shape;391;p30"/>
          <p:cNvSpPr/>
          <p:nvPr/>
        </p:nvSpPr>
        <p:spPr>
          <a:xfrm>
            <a:off x="1508760" y="1591056"/>
            <a:ext cx="3200400" cy="1408176"/>
          </a:xfrm>
          <a:prstGeom prst="rect">
            <a:avLst/>
          </a:prstGeom>
          <a:solidFill>
            <a:srgbClr val="0E3D30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0"/>
          <p:cNvSpPr txBox="1"/>
          <p:nvPr/>
        </p:nvSpPr>
        <p:spPr>
          <a:xfrm>
            <a:off x="1636776" y="1700784"/>
            <a:ext cx="3017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≪ σ½_A + σ½_B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&gt;&gt;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✓ SUCCESS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(control cell)</a:t>
            </a:r>
            <a:endParaRPr sz="2200"/>
          </a:p>
        </p:txBody>
      </p:sp>
      <p:sp>
        <p:nvSpPr>
          <p:cNvPr id="393" name="Google Shape;393;p30"/>
          <p:cNvSpPr/>
          <p:nvPr/>
        </p:nvSpPr>
        <p:spPr>
          <a:xfrm>
            <a:off x="4892040" y="1591056"/>
            <a:ext cx="3200400" cy="1408176"/>
          </a:xfrm>
          <a:prstGeom prst="rect">
            <a:avLst/>
          </a:prstGeom>
          <a:solidFill>
            <a:srgbClr val="0E3D30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 txBox="1"/>
          <p:nvPr/>
        </p:nvSpPr>
        <p:spPr>
          <a:xfrm>
            <a:off x="5020055" y="1700784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moderate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&gt;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✓ SUCCESS</a:t>
            </a:r>
            <a:endParaRPr sz="2200"/>
          </a:p>
        </p:txBody>
      </p:sp>
      <p:sp>
        <p:nvSpPr>
          <p:cNvPr id="395" name="Google Shape;395;p30"/>
          <p:cNvSpPr/>
          <p:nvPr/>
        </p:nvSpPr>
        <p:spPr>
          <a:xfrm>
            <a:off x="8275320" y="1591056"/>
            <a:ext cx="3200400" cy="1408176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 txBox="1"/>
          <p:nvPr/>
        </p:nvSpPr>
        <p:spPr>
          <a:xfrm>
            <a:off x="8403336" y="1700784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grows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≈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near-boundary case</a:t>
            </a:r>
            <a:endParaRPr sz="2200"/>
          </a:p>
        </p:txBody>
      </p:sp>
      <p:sp>
        <p:nvSpPr>
          <p:cNvPr id="397" name="Google Shape;397;p30"/>
          <p:cNvSpPr/>
          <p:nvPr/>
        </p:nvSpPr>
        <p:spPr>
          <a:xfrm>
            <a:off x="1508760" y="3163824"/>
            <a:ext cx="3200400" cy="1408176"/>
          </a:xfrm>
          <a:prstGeom prst="rect">
            <a:avLst/>
          </a:prstGeom>
          <a:solidFill>
            <a:srgbClr val="0E3D30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1636776" y="3273552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moderate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&gt;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✓ SUCCESS</a:t>
            </a:r>
            <a:endParaRPr sz="2200"/>
          </a:p>
        </p:txBody>
      </p:sp>
      <p:sp>
        <p:nvSpPr>
          <p:cNvPr id="399" name="Google Shape;399;p30"/>
          <p:cNvSpPr/>
          <p:nvPr/>
        </p:nvSpPr>
        <p:spPr>
          <a:xfrm>
            <a:off x="4892040" y="3163824"/>
            <a:ext cx="3200400" cy="1408176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 txBox="1"/>
          <p:nvPr/>
        </p:nvSpPr>
        <p:spPr>
          <a:xfrm>
            <a:off x="5020055" y="3273552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large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≈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most interesting cell</a:t>
            </a:r>
            <a:endParaRPr sz="2200"/>
          </a:p>
        </p:txBody>
      </p:sp>
      <p:sp>
        <p:nvSpPr>
          <p:cNvPr id="401" name="Google Shape;401;p30"/>
          <p:cNvSpPr/>
          <p:nvPr/>
        </p:nvSpPr>
        <p:spPr>
          <a:xfrm>
            <a:off x="8275320" y="3163824"/>
            <a:ext cx="3200400" cy="1408176"/>
          </a:xfrm>
          <a:prstGeom prst="rect">
            <a:avLst/>
          </a:prstGeom>
          <a:solidFill>
            <a:srgbClr val="3A0C0C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0"/>
          <p:cNvSpPr txBox="1"/>
          <p:nvPr/>
        </p:nvSpPr>
        <p:spPr>
          <a:xfrm>
            <a:off x="8403336" y="3273552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very large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&lt;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✗ FAILURE</a:t>
            </a:r>
            <a:endParaRPr sz="2200"/>
          </a:p>
        </p:txBody>
      </p:sp>
      <p:sp>
        <p:nvSpPr>
          <p:cNvPr id="403" name="Google Shape;403;p30"/>
          <p:cNvSpPr/>
          <p:nvPr/>
        </p:nvSpPr>
        <p:spPr>
          <a:xfrm>
            <a:off x="1508760" y="4736592"/>
            <a:ext cx="3200400" cy="1408176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0"/>
          <p:cNvSpPr txBox="1"/>
          <p:nvPr/>
        </p:nvSpPr>
        <p:spPr>
          <a:xfrm>
            <a:off x="1636776" y="4846320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grows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≈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asymmetric boundary</a:t>
            </a:r>
            <a:endParaRPr sz="2200"/>
          </a:p>
        </p:txBody>
      </p:sp>
      <p:sp>
        <p:nvSpPr>
          <p:cNvPr id="405" name="Google Shape;405;p30"/>
          <p:cNvSpPr/>
          <p:nvPr/>
        </p:nvSpPr>
        <p:spPr>
          <a:xfrm>
            <a:off x="4892040" y="4736592"/>
            <a:ext cx="3200400" cy="1408176"/>
          </a:xfrm>
          <a:prstGeom prst="rect">
            <a:avLst/>
          </a:prstGeom>
          <a:solidFill>
            <a:srgbClr val="3A0C0C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5020055" y="4846320"/>
            <a:ext cx="3017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large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&lt;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✗ FAILURE</a:t>
            </a:r>
            <a:endParaRPr sz="2200"/>
          </a:p>
        </p:txBody>
      </p:sp>
      <p:sp>
        <p:nvSpPr>
          <p:cNvPr id="407" name="Google Shape;407;p30"/>
          <p:cNvSpPr/>
          <p:nvPr/>
        </p:nvSpPr>
        <p:spPr>
          <a:xfrm>
            <a:off x="8275320" y="4736592"/>
            <a:ext cx="3200400" cy="1408176"/>
          </a:xfrm>
          <a:prstGeom prst="rect">
            <a:avLst/>
          </a:prstGeom>
          <a:solidFill>
            <a:srgbClr val="3A0C0C"/>
          </a:solidFill>
          <a:ln cap="flat" cmpd="sng" w="15225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0"/>
          <p:cNvSpPr txBox="1"/>
          <p:nvPr/>
        </p:nvSpPr>
        <p:spPr>
          <a:xfrm>
            <a:off x="8403336" y="4846320"/>
            <a:ext cx="30174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 ≫ σ½_A + σ½_B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gap ≪ 0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predicts ✗ FAILURE</a:t>
            </a:r>
            <a:b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(stress-test cell)</a:t>
            </a:r>
            <a:endParaRPr sz="2200"/>
          </a:p>
        </p:txBody>
      </p:sp>
      <p:sp>
        <p:nvSpPr>
          <p:cNvPr id="409" name="Google Shape;409;p30"/>
          <p:cNvSpPr txBox="1"/>
          <p:nvPr/>
        </p:nvSpPr>
        <p:spPr>
          <a:xfrm>
            <a:off x="228600" y="6355080"/>
            <a:ext cx="11750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Green = H3 predicts success  ·  Yellow = near boundary  ·  Red = H3 predicts failure  ·  Key test: does the merge success map align with the gap sign?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94F37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 txBox="1"/>
          <p:nvPr/>
        </p:nvSpPr>
        <p:spPr>
          <a:xfrm>
            <a:off x="228600" y="109728"/>
            <a:ext cx="11430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Three Geometric Bets on σ½</a:t>
            </a:r>
            <a:endParaRPr/>
          </a:p>
        </p:txBody>
      </p:sp>
      <p:cxnSp>
        <p:nvCxnSpPr>
          <p:cNvPr id="416" name="Google Shape;416;p31"/>
          <p:cNvCxnSpPr/>
          <p:nvPr/>
        </p:nvCxnSpPr>
        <p:spPr>
          <a:xfrm>
            <a:off x="228600" y="749808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E94F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7" name="Google Shape;417;p31"/>
          <p:cNvSpPr/>
          <p:nvPr/>
        </p:nvSpPr>
        <p:spPr>
          <a:xfrm>
            <a:off x="228600" y="1005850"/>
            <a:ext cx="11750100" cy="16995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228600" y="1005850"/>
            <a:ext cx="255900" cy="16995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 txBox="1"/>
          <p:nvPr/>
        </p:nvSpPr>
        <p:spPr>
          <a:xfrm>
            <a:off x="621792" y="1005840"/>
            <a:ext cx="329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H1  Adaptation Scale</a:t>
            </a:r>
            <a:endParaRPr sz="1800"/>
          </a:p>
        </p:txBody>
      </p:sp>
      <p:sp>
        <p:nvSpPr>
          <p:cNvPr id="420" name="Google Shape;420;p31"/>
          <p:cNvSpPr txBox="1"/>
          <p:nvPr/>
        </p:nvSpPr>
        <p:spPr>
          <a:xfrm>
            <a:off x="621792" y="1444752"/>
            <a:ext cx="5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 = ‖Δθ‖/σ½ ≈ 1 is a universal stability boundary</a:t>
            </a:r>
            <a:endParaRPr sz="1800"/>
          </a:p>
        </p:txBody>
      </p:sp>
      <p:sp>
        <p:nvSpPr>
          <p:cNvPr id="421" name="Google Shape;421;p31"/>
          <p:cNvSpPr/>
          <p:nvPr/>
        </p:nvSpPr>
        <p:spPr>
          <a:xfrm>
            <a:off x="6172200" y="1170432"/>
            <a:ext cx="5577840" cy="1188720"/>
          </a:xfrm>
          <a:prstGeom prst="rect">
            <a:avLst/>
          </a:prstGeom>
          <a:solidFill>
            <a:srgbClr val="101020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 txBox="1"/>
          <p:nvPr/>
        </p:nvSpPr>
        <p:spPr>
          <a:xfrm>
            <a:off x="6327648" y="1225296"/>
            <a:ext cx="530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97BBF"/>
                </a:solidFill>
                <a:latin typeface="Calibri"/>
                <a:ea typeface="Calibri"/>
                <a:cs typeface="Calibri"/>
                <a:sym typeface="Calibri"/>
              </a:rPr>
              <a:t>If confirmed →</a:t>
            </a:r>
            <a:endParaRPr sz="2000"/>
          </a:p>
        </p:txBody>
      </p:sp>
      <p:sp>
        <p:nvSpPr>
          <p:cNvPr id="423" name="Google Shape;423;p31"/>
          <p:cNvSpPr txBox="1"/>
          <p:nvPr/>
        </p:nvSpPr>
        <p:spPr>
          <a:xfrm>
            <a:off x="6327648" y="1536192"/>
            <a:ext cx="530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A model-agnostic LR / step budget rule, </a:t>
            </a:r>
            <a:b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pre-hoc, no fine-tuning needed</a:t>
            </a:r>
            <a:endParaRPr sz="2000"/>
          </a:p>
        </p:txBody>
      </p:sp>
      <p:sp>
        <p:nvSpPr>
          <p:cNvPr id="424" name="Google Shape;424;p31"/>
          <p:cNvSpPr/>
          <p:nvPr/>
        </p:nvSpPr>
        <p:spPr>
          <a:xfrm>
            <a:off x="228600" y="2836197"/>
            <a:ext cx="11750100" cy="16995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1"/>
          <p:cNvSpPr/>
          <p:nvPr/>
        </p:nvSpPr>
        <p:spPr>
          <a:xfrm>
            <a:off x="228600" y="2836197"/>
            <a:ext cx="255900" cy="1699500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1"/>
          <p:cNvSpPr txBox="1"/>
          <p:nvPr/>
        </p:nvSpPr>
        <p:spPr>
          <a:xfrm>
            <a:off x="621792" y="2926080"/>
            <a:ext cx="329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H2  Forgetting Budget</a:t>
            </a:r>
            <a:endParaRPr sz="1800"/>
          </a:p>
        </p:txBody>
      </p:sp>
      <p:sp>
        <p:nvSpPr>
          <p:cNvPr id="427" name="Google Shape;427;p31"/>
          <p:cNvSpPr txBox="1"/>
          <p:nvPr/>
        </p:nvSpPr>
        <p:spPr>
          <a:xfrm>
            <a:off x="621792" y="3364992"/>
            <a:ext cx="5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R_A &gt; 1 predicts Task A forgetting after sequential FT</a:t>
            </a:r>
            <a:endParaRPr sz="1800"/>
          </a:p>
        </p:txBody>
      </p:sp>
      <p:sp>
        <p:nvSpPr>
          <p:cNvPr id="428" name="Google Shape;428;p31"/>
          <p:cNvSpPr/>
          <p:nvPr/>
        </p:nvSpPr>
        <p:spPr>
          <a:xfrm>
            <a:off x="6172200" y="3090672"/>
            <a:ext cx="5577840" cy="1188720"/>
          </a:xfrm>
          <a:prstGeom prst="rect">
            <a:avLst/>
          </a:prstGeom>
          <a:solidFill>
            <a:srgbClr val="101020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6327648" y="3145536"/>
            <a:ext cx="530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43C59E"/>
                </a:solidFill>
                <a:latin typeface="Calibri"/>
                <a:ea typeface="Calibri"/>
                <a:cs typeface="Calibri"/>
                <a:sym typeface="Calibri"/>
              </a:rPr>
              <a:t>If confirmed →</a:t>
            </a:r>
            <a:endParaRPr sz="2000"/>
          </a:p>
        </p:txBody>
      </p:sp>
      <p:sp>
        <p:nvSpPr>
          <p:cNvPr id="430" name="Google Shape;430;p31"/>
          <p:cNvSpPr txBox="1"/>
          <p:nvPr/>
        </p:nvSpPr>
        <p:spPr>
          <a:xfrm>
            <a:off x="6327648" y="3456432"/>
            <a:ext cx="530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σ½_A is a certified continual-learning budget; </a:t>
            </a:r>
            <a:b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direct weight-space analog of KL penalty</a:t>
            </a:r>
            <a:endParaRPr sz="2000"/>
          </a:p>
        </p:txBody>
      </p:sp>
      <p:sp>
        <p:nvSpPr>
          <p:cNvPr id="431" name="Google Shape;431;p31"/>
          <p:cNvSpPr/>
          <p:nvPr/>
        </p:nvSpPr>
        <p:spPr>
          <a:xfrm>
            <a:off x="228600" y="4666544"/>
            <a:ext cx="11750100" cy="16995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228600" y="4666544"/>
            <a:ext cx="255900" cy="1699500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1"/>
          <p:cNvSpPr txBox="1"/>
          <p:nvPr/>
        </p:nvSpPr>
        <p:spPr>
          <a:xfrm>
            <a:off x="621792" y="4846320"/>
            <a:ext cx="329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H3  Model Merging</a:t>
            </a:r>
            <a:endParaRPr sz="1800"/>
          </a:p>
        </p:txBody>
      </p:sp>
      <p:sp>
        <p:nvSpPr>
          <p:cNvPr id="434" name="Google Shape;434;p31"/>
          <p:cNvSpPr txBox="1"/>
          <p:nvPr/>
        </p:nvSpPr>
        <p:spPr>
          <a:xfrm>
            <a:off x="621792" y="5285232"/>
            <a:ext cx="530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d(θ_A, θ_B) &lt; (σ½_A + σ½_B) predicts merge success</a:t>
            </a:r>
            <a:endParaRPr sz="1800"/>
          </a:p>
        </p:txBody>
      </p:sp>
      <p:sp>
        <p:nvSpPr>
          <p:cNvPr id="435" name="Google Shape;435;p31"/>
          <p:cNvSpPr/>
          <p:nvPr/>
        </p:nvSpPr>
        <p:spPr>
          <a:xfrm>
            <a:off x="6172200" y="5010912"/>
            <a:ext cx="5577840" cy="1188720"/>
          </a:xfrm>
          <a:prstGeom prst="rect">
            <a:avLst/>
          </a:prstGeom>
          <a:solidFill>
            <a:srgbClr val="101020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6327648" y="5065776"/>
            <a:ext cx="5303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If confirmed →</a:t>
            </a:r>
            <a:endParaRPr sz="2000"/>
          </a:p>
        </p:txBody>
      </p:sp>
      <p:sp>
        <p:nvSpPr>
          <p:cNvPr id="437" name="Google Shape;437;p31"/>
          <p:cNvSpPr txBox="1"/>
          <p:nvPr/>
        </p:nvSpPr>
        <p:spPr>
          <a:xfrm>
            <a:off x="6327648" y="5376672"/>
            <a:ext cx="5303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First geometry-based certificate for safe model merging</a:t>
            </a:r>
            <a:r>
              <a:rPr i="1" lang="en-US" sz="1700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1" lang="en-US" sz="1700" u="none" cap="none" strike="noStrike">
                <a:solidFill>
                  <a:srgbClr val="B0B8C8"/>
                </a:solidFill>
                <a:latin typeface="Calibri"/>
                <a:ea typeface="Calibri"/>
                <a:cs typeface="Calibri"/>
                <a:sym typeface="Calibri"/>
              </a:rPr>
              <a:t xml:space="preserve"> predict before running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28600" y="91440"/>
            <a:ext cx="117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H1 · Literature Review &amp; State of the Art</a:t>
            </a:r>
            <a:endParaRPr/>
          </a:p>
        </p:txBody>
      </p:sp>
      <p:cxnSp>
        <p:nvCxnSpPr>
          <p:cNvPr id="157" name="Google Shape;157;p18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8"/>
          <p:cNvSpPr/>
          <p:nvPr/>
        </p:nvSpPr>
        <p:spPr>
          <a:xfrm>
            <a:off x="22860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28600" y="1170432"/>
            <a:ext cx="5742432" cy="420624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5661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Flatness &amp; sharpness literature</a:t>
            </a:r>
            <a:endParaRPr sz="1900"/>
          </a:p>
        </p:txBody>
      </p:sp>
      <p:sp>
        <p:nvSpPr>
          <p:cNvPr id="161" name="Google Shape;161;p18"/>
          <p:cNvSpPr txBox="1"/>
          <p:nvPr/>
        </p:nvSpPr>
        <p:spPr>
          <a:xfrm>
            <a:off x="356616" y="1682496"/>
            <a:ext cx="5541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SAM / flat-minima line: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Foret et al. (2021); Flat-LoRA (ICML 2025) shows a flat LoRA-subspace minimum can still be sharp in full parameter space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Sharpness predicts forgetting: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Li et al. (2024) found forgetting correlates with loss-landscape sharpness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we measure basin width directly as a certified radius (σ½), not a qualitative sharpness proxy</a:t>
            </a:r>
            <a:endParaRPr sz="1300"/>
          </a:p>
        </p:txBody>
      </p:sp>
      <p:sp>
        <p:nvSpPr>
          <p:cNvPr id="162" name="Google Shape;162;p18"/>
          <p:cNvSpPr/>
          <p:nvPr/>
        </p:nvSpPr>
        <p:spPr>
          <a:xfrm>
            <a:off x="621792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17920" y="1170432"/>
            <a:ext cx="5742432" cy="420624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34593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Scaling-law analogies</a:t>
            </a:r>
            <a:endParaRPr sz="1900"/>
          </a:p>
        </p:txBody>
      </p:sp>
      <p:sp>
        <p:nvSpPr>
          <p:cNvPr id="165" name="Google Shape;165;p18"/>
          <p:cNvSpPr txBox="1"/>
          <p:nvPr/>
        </p:nvSpPr>
        <p:spPr>
          <a:xfrm>
            <a:off x="6345936" y="16824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Chinchilla (Hoffmann et al., 2022):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N_tokens / N_params collapses loss curves across model sizes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μP (Yang et al., 2021):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lr / √width collapses training dynamics across widths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 normalized quantity collapses fine-tuning curves across architectures — R = ‖Δθ‖/σ½ is untested</a:t>
            </a:r>
            <a:endParaRPr sz="1300"/>
          </a:p>
        </p:txBody>
      </p:sp>
      <p:sp>
        <p:nvSpPr>
          <p:cNvPr id="166" name="Google Shape;166;p18"/>
          <p:cNvSpPr/>
          <p:nvPr/>
        </p:nvSpPr>
        <p:spPr>
          <a:xfrm>
            <a:off x="22860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28600" y="3913632"/>
            <a:ext cx="5742432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5661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Weight-space randomized smoothing</a:t>
            </a:r>
            <a:endParaRPr sz="1900"/>
          </a:p>
        </p:txBody>
      </p:sp>
      <p:sp>
        <p:nvSpPr>
          <p:cNvPr id="169" name="Google Shape;169;p18"/>
          <p:cNvSpPr txBox="1"/>
          <p:nvPr/>
        </p:nvSpPr>
        <p:spPr>
          <a:xfrm>
            <a:off x="356625" y="4425700"/>
            <a:ext cx="5742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Closest prior work: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Darzi et al. (2025), RS-style Gaussian weight noise for federated-learning privacy/robustness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Cohen et al. (2019):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the canonical input-space RS certificate, transplanted here into weight space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 prior weight-space RS work targets a fine-tuning safe-budget certificate</a:t>
            </a:r>
            <a:endParaRPr sz="1300"/>
          </a:p>
        </p:txBody>
      </p:sp>
      <p:sp>
        <p:nvSpPr>
          <p:cNvPr id="170" name="Google Shape;170;p18"/>
          <p:cNvSpPr/>
          <p:nvPr/>
        </p:nvSpPr>
        <p:spPr>
          <a:xfrm>
            <a:off x="621792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217920" y="3913632"/>
            <a:ext cx="5742432" cy="420624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34593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H1 sits</a:t>
            </a:r>
            <a:endParaRPr sz="1900"/>
          </a:p>
        </p:txBody>
      </p:sp>
      <p:sp>
        <p:nvSpPr>
          <p:cNvPr id="173" name="Google Shape;173;p18"/>
          <p:cNvSpPr txBox="1"/>
          <p:nvPr/>
        </p:nvSpPr>
        <p:spPr>
          <a:xfrm>
            <a:off x="6345936" y="44256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Adjacent to flatness/SAM literature, but sharper: a single falsifiable ratio, not “flatter is better”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Open question we address: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is R ≈ 1 a universal transition, or does it vary by architecture / task / optimizer?</a:t>
            </a:r>
            <a:endParaRPr sz="1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28600" y="91440"/>
            <a:ext cx="117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H2 · Literature Review &amp; State of the Art</a:t>
            </a:r>
            <a:endParaRPr/>
          </a:p>
        </p:txBody>
      </p:sp>
      <p:cxnSp>
        <p:nvCxnSpPr>
          <p:cNvPr id="157" name="Google Shape;157;p18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8"/>
          <p:cNvSpPr/>
          <p:nvPr/>
        </p:nvSpPr>
        <p:spPr>
          <a:xfrm>
            <a:off x="22860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28600" y="1170432"/>
            <a:ext cx="5742432" cy="420624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5661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Catastrophic forgetting literature</a:t>
            </a:r>
            <a:endParaRPr sz="1900"/>
          </a:p>
        </p:txBody>
      </p:sp>
      <p:sp>
        <p:nvSpPr>
          <p:cNvPr id="161" name="Google Shape;161;p18"/>
          <p:cNvSpPr txBox="1"/>
          <p:nvPr/>
        </p:nvSpPr>
        <p:spPr>
          <a:xfrm>
            <a:off x="356616" y="1682496"/>
            <a:ext cx="5541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Mechanistic view: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Imanov (2026) attributes forgetting to gradient interference, representational drift, and landscape flattening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PEFT is not immune: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2025–26 work shows LoRA still causes real forgetting in continual settings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existing diagnoses are post-hoc; none give a predictive budget computed before Phase 2</a:t>
            </a:r>
            <a:endParaRPr sz="1300"/>
          </a:p>
        </p:txBody>
      </p:sp>
      <p:sp>
        <p:nvSpPr>
          <p:cNvPr id="162" name="Google Shape;162;p18"/>
          <p:cNvSpPr/>
          <p:nvPr/>
        </p:nvSpPr>
        <p:spPr>
          <a:xfrm>
            <a:off x="621792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17920" y="1170432"/>
            <a:ext cx="5742432" cy="420624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34593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RLHF &amp; KL-penalty analogy</a:t>
            </a:r>
            <a:endParaRPr sz="1900"/>
          </a:p>
        </p:txBody>
      </p:sp>
      <p:sp>
        <p:nvSpPr>
          <p:cNvPr id="165" name="Google Shape;165;p18"/>
          <p:cNvSpPr txBox="1"/>
          <p:nvPr/>
        </p:nvSpPr>
        <p:spPr>
          <a:xfrm>
            <a:off x="6345936" y="16824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Standard practice: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PPO/RLHF penalizes KL divergence in output space vs. the SFT reference (Ouyang et al., 2022)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Known limitation: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output-space KL restricts the optimization landscape; 2025 work proposes χ² / energy-based alternatives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 method defines the safe-movement radius in weight space — σ½_SFT is proposed as that analog</a:t>
            </a:r>
            <a:endParaRPr sz="1300"/>
          </a:p>
        </p:txBody>
      </p:sp>
      <p:sp>
        <p:nvSpPr>
          <p:cNvPr id="166" name="Google Shape;166;p18"/>
          <p:cNvSpPr/>
          <p:nvPr/>
        </p:nvSpPr>
        <p:spPr>
          <a:xfrm>
            <a:off x="22860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28600" y="3913632"/>
            <a:ext cx="5742432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5661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Continual learning &amp; LMC view</a:t>
            </a:r>
            <a:endParaRPr sz="1900"/>
          </a:p>
        </p:txBody>
      </p:sp>
      <p:sp>
        <p:nvSpPr>
          <p:cNvPr id="169" name="Google Shape;169;p18"/>
          <p:cNvSpPr txBox="1"/>
          <p:nvPr/>
        </p:nvSpPr>
        <p:spPr>
          <a:xfrm>
            <a:off x="356625" y="4425700"/>
            <a:ext cx="5742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I-LoRA (Ren et al., 2024):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stability–plasticity frontier reached via low-loss valleys — hints at geometry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EWC-LoRA (Xiang et al., 2024):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Fisher-matrix importance weighting — functional, not geometric, and costly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one certified radius replaces per-parameter importance estimation</a:t>
            </a:r>
            <a:endParaRPr sz="1300"/>
          </a:p>
        </p:txBody>
      </p:sp>
      <p:sp>
        <p:nvSpPr>
          <p:cNvPr id="170" name="Google Shape;170;p18"/>
          <p:cNvSpPr/>
          <p:nvPr/>
        </p:nvSpPr>
        <p:spPr>
          <a:xfrm>
            <a:off x="621792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217920" y="3913632"/>
            <a:ext cx="5742432" cy="420624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34593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H2 sits</a:t>
            </a:r>
            <a:endParaRPr sz="1900"/>
          </a:p>
        </p:txBody>
      </p:sp>
      <p:sp>
        <p:nvSpPr>
          <p:cNvPr id="173" name="Google Shape;173;p18"/>
          <p:cNvSpPr txBox="1"/>
          <p:nvPr/>
        </p:nvSpPr>
        <p:spPr>
          <a:xfrm>
            <a:off x="6345936" y="44256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If confirmed, sharper than sharpness-correlation papers: predicts a hard crossing (R_A = 1), not just a directional trend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Open question we address: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is the R_A = 1 transition genuinely sharp across model sizes and task pairs, or gradual?</a:t>
            </a:r>
            <a:endParaRPr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28600" y="91440"/>
            <a:ext cx="1175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H3 · Literature Review &amp; State of the Art</a:t>
            </a:r>
            <a:endParaRPr/>
          </a:p>
        </p:txBody>
      </p:sp>
      <p:cxnSp>
        <p:nvCxnSpPr>
          <p:cNvPr id="157" name="Google Shape;157;p18"/>
          <p:cNvCxnSpPr/>
          <p:nvPr/>
        </p:nvCxnSpPr>
        <p:spPr>
          <a:xfrm>
            <a:off x="228600" y="1042415"/>
            <a:ext cx="11750040" cy="0"/>
          </a:xfrm>
          <a:prstGeom prst="straightConnector1">
            <a:avLst/>
          </a:prstGeom>
          <a:noFill/>
          <a:ln cap="flat" cmpd="sng" w="19050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58" name="Google Shape;158;p18"/>
          <p:cNvSpPr/>
          <p:nvPr/>
        </p:nvSpPr>
        <p:spPr>
          <a:xfrm>
            <a:off x="22860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397B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228600" y="1170432"/>
            <a:ext cx="5742432" cy="420624"/>
          </a:xfrm>
          <a:prstGeom prst="rect">
            <a:avLst/>
          </a:prstGeom>
          <a:solidFill>
            <a:srgbClr val="397BB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35661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Linear mode connectivity (LMC)</a:t>
            </a:r>
            <a:endParaRPr sz="1900"/>
          </a:p>
        </p:txBody>
      </p:sp>
      <p:sp>
        <p:nvSpPr>
          <p:cNvPr id="161" name="Google Shape;161;p18"/>
          <p:cNvSpPr txBox="1"/>
          <p:nvPr/>
        </p:nvSpPr>
        <p:spPr>
          <a:xfrm>
            <a:off x="356616" y="1682496"/>
            <a:ext cx="5541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Foundational: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Frankle et al. (2020) define LMC: loss stays low along the linear path if barrier ε ≈ 0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shared pretrained init drives strong LMC (2026 survey), but predicting capability preservation during merging still “remains incomplete” — our target</a:t>
            </a:r>
            <a:endParaRPr sz="1300"/>
          </a:p>
        </p:txBody>
      </p:sp>
      <p:sp>
        <p:nvSpPr>
          <p:cNvPr id="162" name="Google Shape;162;p18"/>
          <p:cNvSpPr/>
          <p:nvPr/>
        </p:nvSpPr>
        <p:spPr>
          <a:xfrm>
            <a:off x="6217920" y="11704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43C59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217920" y="1170432"/>
            <a:ext cx="5742432" cy="420624"/>
          </a:xfrm>
          <a:prstGeom prst="rect">
            <a:avLst/>
          </a:prstGeom>
          <a:solidFill>
            <a:srgbClr val="43C59E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345936" y="12252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Empirical merge methods</a:t>
            </a:r>
            <a:endParaRPr sz="1900"/>
          </a:p>
        </p:txBody>
      </p:sp>
      <p:sp>
        <p:nvSpPr>
          <p:cNvPr id="165" name="Google Shape;165;p18"/>
          <p:cNvSpPr txBox="1"/>
          <p:nvPr/>
        </p:nvSpPr>
        <p:spPr>
          <a:xfrm>
            <a:off x="6345936" y="16824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Task arithmetic, TIES, DARE: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combine/prune/sign-align task vectors empirically, no geometric pre-check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Basin width matters: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Wortsman et al. (2022): wider, flatter basins support more robust weight averaging — descriptive, not certified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 certified sufficient condition (ball overlap) computable before merging, not after</a:t>
            </a:r>
            <a:endParaRPr sz="1300"/>
          </a:p>
        </p:txBody>
      </p:sp>
      <p:sp>
        <p:nvSpPr>
          <p:cNvPr id="166" name="Google Shape;166;p18"/>
          <p:cNvSpPr/>
          <p:nvPr/>
        </p:nvSpPr>
        <p:spPr>
          <a:xfrm>
            <a:off x="22860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228600" y="3913632"/>
            <a:ext cx="5742432" cy="420624"/>
          </a:xfrm>
          <a:prstGeom prst="rect">
            <a:avLst/>
          </a:prstGeom>
          <a:solidFill>
            <a:srgbClr val="7C3AED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35661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barriers appear</a:t>
            </a:r>
            <a:endParaRPr sz="1900"/>
          </a:p>
        </p:txBody>
      </p:sp>
      <p:sp>
        <p:nvSpPr>
          <p:cNvPr id="169" name="Google Shape;169;p18"/>
          <p:cNvSpPr txBox="1"/>
          <p:nvPr/>
        </p:nvSpPr>
        <p:spPr>
          <a:xfrm>
            <a:off x="356625" y="4425700"/>
            <a:ext cx="5742300" cy="17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Feature mismatch, not geometry: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Nobari et al. (2025): many LMC failures are fixable via activation renorm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Task interference: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complementary updates merge cleanly; conflicting updates create barriers — still empirical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Gap we fill: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σ½-ball overlap gives one falsifiable geometric quantity, not post-hoc diagnosis</a:t>
            </a:r>
            <a:endParaRPr sz="1300"/>
          </a:p>
        </p:txBody>
      </p:sp>
      <p:sp>
        <p:nvSpPr>
          <p:cNvPr id="170" name="Google Shape;170;p18"/>
          <p:cNvSpPr/>
          <p:nvPr/>
        </p:nvSpPr>
        <p:spPr>
          <a:xfrm>
            <a:off x="6217920" y="3913632"/>
            <a:ext cx="5742432" cy="2542032"/>
          </a:xfrm>
          <a:prstGeom prst="rect">
            <a:avLst/>
          </a:prstGeom>
          <a:solidFill>
            <a:srgbClr val="0D1B2A"/>
          </a:solidFill>
          <a:ln cap="flat" cmpd="sng" w="15225">
            <a:solidFill>
              <a:srgbClr val="F5C5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217920" y="3913632"/>
            <a:ext cx="5742432" cy="420624"/>
          </a:xfrm>
          <a:prstGeom prst="rect">
            <a:avLst/>
          </a:prstGeom>
          <a:solidFill>
            <a:srgbClr val="F5C51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6345936" y="3968496"/>
            <a:ext cx="5541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Where H3 sits</a:t>
            </a:r>
            <a:endParaRPr sz="1900"/>
          </a:p>
        </p:txBody>
      </p:sp>
      <p:sp>
        <p:nvSpPr>
          <p:cNvPr id="173" name="Google Shape;173;p18"/>
          <p:cNvSpPr txBox="1"/>
          <p:nvPr/>
        </p:nvSpPr>
        <p:spPr>
          <a:xfrm>
            <a:off x="6345936" y="4425696"/>
            <a:ext cx="55413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A certifiable special case of LMC: “overlapping balls → midpoint is safe” is falsifiable where LMC is descriptive</a:t>
            </a:r>
            <a:endParaRPr sz="13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F5F5F5"/>
              </a:buClr>
              <a:buSzPts val="1300"/>
              <a:buFont typeface="Calibri"/>
              <a:buChar char="●"/>
            </a:pPr>
            <a:r>
              <a:rPr b="1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 xml:space="preserve">Open question we address: </a:t>
            </a:r>
            <a:r>
              <a:rPr b="0" i="0" lang="en-US" sz="13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does σ½-ball overlap predict simple-averaging merge success — the most skeptical test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